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27.fntdata" ContentType="application/x-fontdata"/>
  <Override PartName="/ppt/fonts/font28.fntdata" ContentType="application/x-fontdata"/>
  <Override PartName="/ppt/fonts/font29.fntdata" ContentType="application/x-fontdata"/>
  <Override PartName="/ppt/fonts/font3.fntdata" ContentType="application/x-fontdata"/>
  <Override PartName="/ppt/fonts/font30.fntdata" ContentType="application/x-fontdata"/>
  <Override PartName="/ppt/fonts/font31.fntdata" ContentType="application/x-fontdata"/>
  <Override PartName="/ppt/fonts/font32.fntdata" ContentType="application/x-fontdata"/>
  <Override PartName="/ppt/fonts/font33.fntdata" ContentType="application/x-fontdata"/>
  <Override PartName="/ppt/fonts/font34.fntdata" ContentType="application/x-fontdata"/>
  <Override PartName="/ppt/fonts/font35.fntdata" ContentType="application/x-fontdata"/>
  <Override PartName="/ppt/fonts/font36.fntdata" ContentType="application/x-fontdata"/>
  <Override PartName="/ppt/fonts/font37.fntdata" ContentType="application/x-fontdata"/>
  <Override PartName="/ppt/fonts/font38.fntdata" ContentType="application/x-fontdata"/>
  <Override PartName="/ppt/fonts/font39.fntdata" ContentType="application/x-fontdata"/>
  <Override PartName="/ppt/fonts/font4.fntdata" ContentType="application/x-fontdata"/>
  <Override PartName="/ppt/fonts/font40.fntdata" ContentType="application/x-fontdata"/>
  <Override PartName="/ppt/fonts/font41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72" r:id="rId28"/>
  </p:sldIdLst>
  <p:sldSz cx="12192000" cy="6858000"/>
  <p:notesSz cx="6858000" cy="9144000"/>
  <p:embeddedFontLst>
    <p:embeddedFont>
      <p:font typeface="Calibri" panose="020F0502020204030204"/>
      <p:regular r:id="rId32"/>
      <p:bold r:id="rId33"/>
      <p:italic r:id="rId34"/>
      <p:boldItalic r:id="rId35"/>
    </p:embeddedFont>
    <p:embeddedFont>
      <p:font typeface="Poppins" panose="00000500000000000000"/>
      <p:regular r:id="rId36"/>
      <p:bold r:id="rId37"/>
      <p:italic r:id="rId38"/>
      <p:boldItalic r:id="rId39"/>
    </p:embeddedFont>
    <p:embeddedFont>
      <p:font typeface="Poppins Medium" panose="00000500000000000000"/>
      <p:regular r:id="rId40"/>
      <p:bold r:id="rId41"/>
      <p:italic r:id="rId42"/>
      <p:boldItalic r:id="rId43"/>
    </p:embeddedFont>
    <p:embeddedFont>
      <p:font typeface="Inter" panose="02000503000000020004"/>
      <p:regular r:id="rId44"/>
      <p:bold r:id="rId45"/>
      <p:italic r:id="rId46"/>
      <p:boldItalic r:id="rId47"/>
    </p:embeddedFont>
    <p:embeddedFont>
      <p:font typeface="Inter ExtraBold" panose="02000503000000020004"/>
      <p:bold r:id="rId48"/>
    </p:embeddedFont>
    <p:embeddedFont>
      <p:font typeface="Inter" panose="02000503000000020004" pitchFamily="34" charset="-122"/>
      <p:regular r:id="rId49"/>
      <p:bold r:id="rId50"/>
      <p:italic r:id="rId51"/>
      <p:boldItalic r:id="rId52"/>
    </p:embeddedFont>
    <p:embeddedFont>
      <p:font typeface="Inter" panose="02000503000000020004" charset="0"/>
      <p:regular r:id="rId53"/>
      <p:bold r:id="rId54"/>
      <p:italic r:id="rId55"/>
      <p:boldItalic r:id="rId56"/>
    </p:embeddedFont>
    <p:embeddedFont>
      <p:font typeface="Inter" panose="02000503000000020004" pitchFamily="34" charset="-120"/>
      <p:regular r:id="rId57"/>
      <p:bold r:id="rId58"/>
      <p:italic r:id="rId59"/>
      <p:boldItalic r:id="rId60"/>
    </p:embeddedFont>
    <p:embeddedFont>
      <p:font typeface="Poppins" panose="00000500000000000000" charset="0"/>
      <p:regular r:id="rId61"/>
      <p:bold r:id="rId62"/>
      <p:italic r:id="rId63"/>
      <p:boldItalic r:id="rId64"/>
    </p:embeddedFont>
    <p:embeddedFont>
      <p:font typeface="Poppins" panose="00000500000000000000" pitchFamily="34" charset="-122"/>
      <p:regular r:id="rId65"/>
      <p:bold r:id="rId66"/>
      <p:italic r:id="rId67"/>
      <p:boldItalic r:id="rId68"/>
    </p:embeddedFont>
    <p:embeddedFont>
      <p:font typeface="Poppins" panose="00000500000000000000" pitchFamily="34" charset="-12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ABB753-5703-4A09-A416-04EB9CE7A231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32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2" Type="http://schemas.openxmlformats.org/officeDocument/2006/relationships/font" Target="fonts/font41.fntdata"/><Relationship Id="rId71" Type="http://schemas.openxmlformats.org/officeDocument/2006/relationships/font" Target="fonts/font40.fntdata"/><Relationship Id="rId70" Type="http://schemas.openxmlformats.org/officeDocument/2006/relationships/font" Target="fonts/font39.fntdata"/><Relationship Id="rId7" Type="http://schemas.openxmlformats.org/officeDocument/2006/relationships/slide" Target="slides/slide4.xml"/><Relationship Id="rId69" Type="http://schemas.openxmlformats.org/officeDocument/2006/relationships/font" Target="fonts/font38.fntdata"/><Relationship Id="rId68" Type="http://schemas.openxmlformats.org/officeDocument/2006/relationships/font" Target="fonts/font37.fntdata"/><Relationship Id="rId67" Type="http://schemas.openxmlformats.org/officeDocument/2006/relationships/font" Target="fonts/font36.fntdata"/><Relationship Id="rId66" Type="http://schemas.openxmlformats.org/officeDocument/2006/relationships/font" Target="fonts/font35.fntdata"/><Relationship Id="rId65" Type="http://schemas.openxmlformats.org/officeDocument/2006/relationships/font" Target="fonts/font34.fntdata"/><Relationship Id="rId64" Type="http://schemas.openxmlformats.org/officeDocument/2006/relationships/font" Target="fonts/font33.fntdata"/><Relationship Id="rId63" Type="http://schemas.openxmlformats.org/officeDocument/2006/relationships/font" Target="fonts/font32.fntdata"/><Relationship Id="rId62" Type="http://schemas.openxmlformats.org/officeDocument/2006/relationships/font" Target="fonts/font31.fntdata"/><Relationship Id="rId61" Type="http://schemas.openxmlformats.org/officeDocument/2006/relationships/font" Target="fonts/font30.fntdata"/><Relationship Id="rId60" Type="http://schemas.openxmlformats.org/officeDocument/2006/relationships/font" Target="fonts/font29.fntdata"/><Relationship Id="rId6" Type="http://schemas.openxmlformats.org/officeDocument/2006/relationships/slide" Target="slides/slide3.xml"/><Relationship Id="rId59" Type="http://schemas.openxmlformats.org/officeDocument/2006/relationships/font" Target="fonts/font28.fntdata"/><Relationship Id="rId58" Type="http://schemas.openxmlformats.org/officeDocument/2006/relationships/font" Target="fonts/font27.fntdata"/><Relationship Id="rId57" Type="http://schemas.openxmlformats.org/officeDocument/2006/relationships/font" Target="fonts/font26.fntdata"/><Relationship Id="rId56" Type="http://schemas.openxmlformats.org/officeDocument/2006/relationships/font" Target="fonts/font25.fntdata"/><Relationship Id="rId55" Type="http://schemas.openxmlformats.org/officeDocument/2006/relationships/font" Target="fonts/font24.fntdata"/><Relationship Id="rId54" Type="http://schemas.openxmlformats.org/officeDocument/2006/relationships/font" Target="fonts/font23.fntdata"/><Relationship Id="rId53" Type="http://schemas.openxmlformats.org/officeDocument/2006/relationships/font" Target="fonts/font22.fntdata"/><Relationship Id="rId52" Type="http://schemas.openxmlformats.org/officeDocument/2006/relationships/font" Target="fonts/font21.fntdata"/><Relationship Id="rId51" Type="http://schemas.openxmlformats.org/officeDocument/2006/relationships/font" Target="fonts/font20.fntdata"/><Relationship Id="rId50" Type="http://schemas.openxmlformats.org/officeDocument/2006/relationships/font" Target="fonts/font19.fntdata"/><Relationship Id="rId5" Type="http://schemas.openxmlformats.org/officeDocument/2006/relationships/slide" Target="slides/slide2.xml"/><Relationship Id="rId49" Type="http://schemas.openxmlformats.org/officeDocument/2006/relationships/font" Target="fonts/font18.fntdata"/><Relationship Id="rId48" Type="http://schemas.openxmlformats.org/officeDocument/2006/relationships/font" Target="fonts/font17.fntdata"/><Relationship Id="rId47" Type="http://schemas.openxmlformats.org/officeDocument/2006/relationships/font" Target="fonts/font16.fntdata"/><Relationship Id="rId46" Type="http://schemas.openxmlformats.org/officeDocument/2006/relationships/font" Target="fonts/font15.fntdata"/><Relationship Id="rId45" Type="http://schemas.openxmlformats.org/officeDocument/2006/relationships/font" Target="fonts/font14.fntdata"/><Relationship Id="rId44" Type="http://schemas.openxmlformats.org/officeDocument/2006/relationships/font" Target="fonts/font13.fntdata"/><Relationship Id="rId43" Type="http://schemas.openxmlformats.org/officeDocument/2006/relationships/font" Target="fonts/font12.fntdata"/><Relationship Id="rId42" Type="http://schemas.openxmlformats.org/officeDocument/2006/relationships/font" Target="fonts/font11.fntdata"/><Relationship Id="rId41" Type="http://schemas.openxmlformats.org/officeDocument/2006/relationships/font" Target="fonts/font10.fntdata"/><Relationship Id="rId40" Type="http://schemas.openxmlformats.org/officeDocument/2006/relationships/font" Target="fonts/font9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8.fntdata"/><Relationship Id="rId38" Type="http://schemas.openxmlformats.org/officeDocument/2006/relationships/font" Target="fonts/font7.fntdata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3" name="Google Shape;213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0" name="Google Shape;220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7" name="Google Shape;237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1" name="Google Shape;261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0" name="Google Shape;280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6" name="Google Shape;296;p1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1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image" Target="../media/image11.png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image" Target="../media/image10.png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3.png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image" Target="../media/image12.png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image" Target="../media/image17.png"/><Relationship Id="rId5" Type="http://schemas.openxmlformats.org/officeDocument/2006/relationships/tags" Target="../tags/tag18.xml"/><Relationship Id="rId4" Type="http://schemas.openxmlformats.org/officeDocument/2006/relationships/image" Target="../media/image16.png"/><Relationship Id="rId3" Type="http://schemas.openxmlformats.org/officeDocument/2006/relationships/tags" Target="../tags/tag17.xml"/><Relationship Id="rId2" Type="http://schemas.openxmlformats.org/officeDocument/2006/relationships/image" Target="../media/image15.png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7" Type="http://schemas.openxmlformats.org/officeDocument/2006/relationships/notesSlide" Target="../notesSlides/notesSlide23.x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tags" Target="../tags/tag34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2" Type="http://schemas.openxmlformats.org/officeDocument/2006/relationships/notesSlide" Target="../notesSlides/notesSlide24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95300" y="1615025"/>
            <a:ext cx="11201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Robustness &amp; </a:t>
            </a:r>
            <a:r>
              <a:rPr lang="en-US" sz="6000" b="1" i="0" u="none" strike="noStrike" cap="none">
                <a:solidFill>
                  <a:srgbClr val="3B82F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Regime</a:t>
            </a:r>
            <a:endParaRPr lang="en-US" sz="6000" b="1" i="0" u="none" strike="noStrike" cap="none">
              <a:solidFill>
                <a:srgbClr val="3B82F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95300" y="2691350"/>
            <a:ext cx="11201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64748B"/>
                </a:solidFill>
                <a:latin typeface="Poppins Medium" panose="00000500000000000000"/>
                <a:ea typeface="Poppins Medium" panose="00000500000000000000"/>
                <a:cs typeface="Poppins Medium" panose="00000500000000000000"/>
                <a:sym typeface="Poppins Medium" panose="00000500000000000000"/>
              </a:rPr>
              <a:t>ML in Volatility Trading</a:t>
            </a:r>
            <a:endParaRPr lang="en-US" sz="2700" b="0" i="0" u="none" strike="noStrike" cap="none">
              <a:solidFill>
                <a:srgbClr val="64748B"/>
              </a:solidFill>
              <a:latin typeface="Poppins Medium" panose="00000500000000000000"/>
              <a:ea typeface="Poppins Medium" panose="00000500000000000000"/>
              <a:cs typeface="Poppins Medium" panose="00000500000000000000"/>
              <a:sym typeface="Poppins Medium" panose="0000050000000000000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3405725"/>
            <a:ext cx="106680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 Hardened Study: From Prediction Failure to Structural Alpha</a:t>
            </a:r>
            <a:endParaRPr lang="en-US" sz="195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4495800"/>
            <a:ext cx="106680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Group 1</a:t>
            </a:r>
            <a:endParaRPr lang="en-US" sz="2400" b="0" i="0" u="none" strike="noStrike" cap="none">
              <a:solidFill>
                <a:srgbClr val="0F172A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962525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9731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April 2026</a:t>
            </a:r>
            <a:endParaRPr lang="en-US" sz="1800" b="1" i="0" u="none" strike="noStrike" cap="none">
              <a:solidFill>
                <a:srgbClr val="F97316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076675" y="1966962"/>
            <a:ext cx="33337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076675" y="3043287"/>
            <a:ext cx="33337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076675" y="4119612"/>
            <a:ext cx="33337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076675" y="5195937"/>
            <a:ext cx="33337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395762" y="1385937"/>
            <a:ext cx="2695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Strategic Pivot Process:</a:t>
            </a:r>
            <a:endParaRPr lang="en-US" sz="1800" b="1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2095512"/>
            <a:ext cx="5048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01. Research Context &amp; Methodology</a:t>
            </a:r>
            <a:endParaRPr lang="en-US" sz="1800" b="1" i="0" u="none" strike="noStrike" cap="none">
              <a:solidFill>
                <a:srgbClr val="1E3A8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2676537"/>
            <a:ext cx="5048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02. Data Engineering &amp; Features</a:t>
            </a:r>
            <a:endParaRPr lang="en-US" sz="1800" b="1" i="0" u="none" strike="noStrike" cap="none">
              <a:solidFill>
                <a:srgbClr val="1E3A8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3257562"/>
            <a:ext cx="5048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03. The Predictive "Noise Wall"</a:t>
            </a:r>
            <a:endParaRPr lang="en-US" sz="1800" b="1" i="0" u="none" strike="noStrike" cap="none">
              <a:solidFill>
                <a:srgbClr val="1E3A8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000125" y="3838587"/>
            <a:ext cx="5048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04. Regime Detection &amp; Strategy</a:t>
            </a:r>
            <a:endParaRPr lang="en-US" sz="1800" b="1" i="0" u="none" strike="noStrike" cap="none">
              <a:solidFill>
                <a:srgbClr val="1E3A8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000125" y="4419612"/>
            <a:ext cx="5048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05. Robustness &amp; Final Insights</a:t>
            </a:r>
            <a:endParaRPr lang="en-US" sz="1800" b="1" i="0" u="none" strike="noStrike" cap="none">
              <a:solidFill>
                <a:srgbClr val="1E3A8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657825" y="264323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657825" y="371956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657825" y="479588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000125" y="381000"/>
            <a:ext cx="1095136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Agenda &amp; Logic Workflow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762000" y="381000"/>
            <a:ext cx="1143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/>
        </p:nvSpPr>
        <p:spPr>
          <a:xfrm>
            <a:off x="4967287" y="809625"/>
            <a:ext cx="2257425" cy="523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0" b="0" i="0" u="none" strike="noStrike" cap="none">
                <a:solidFill>
                  <a:srgbClr val="3B82F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1</a:t>
            </a:r>
            <a:endParaRPr lang="en-US" sz="41250" b="0" i="0" u="none" strike="noStrike" cap="none">
              <a:solidFill>
                <a:srgbClr val="3B82F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233987" y="2190750"/>
            <a:ext cx="17240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9731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SECTION 1</a:t>
            </a:r>
            <a:endParaRPr lang="en-US" sz="2100" b="0" i="0" u="none" strike="noStrike" cap="none">
              <a:solidFill>
                <a:srgbClr val="F9731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234804" y="3295290"/>
            <a:ext cx="10061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3A8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Context &amp;Methodology</a:t>
            </a:r>
            <a:endParaRPr lang="en-US" sz="5400" b="1" i="0" u="none" strike="noStrike" cap="none">
              <a:solidFill>
                <a:srgbClr val="1E3A8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2000" y="2362200"/>
            <a:ext cx="5048250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362200"/>
            <a:ext cx="5048250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62000" y="3810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9731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SECTION 1: CONTEXT</a:t>
            </a:r>
            <a:endParaRPr lang="en-US" sz="1200" b="0" i="0" u="none" strike="noStrike" cap="none">
              <a:solidFill>
                <a:srgbClr val="F9731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1047750" y="2724150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9731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Predicting Tomorrow</a:t>
            </a:r>
            <a:endParaRPr lang="en-US" sz="1405" b="1" i="0" u="none" strike="noStrike" cap="none">
              <a:solidFill>
                <a:srgbClr val="F9731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1047750" y="3228975"/>
            <a:ext cx="4476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Method: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Supervised Learning (Directional/Return Forecasting).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1047750" y="4143375"/>
            <a:ext cx="44767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Challenge: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Daily returns are low signal, high noise. Models overfit instantly to stochastic movements.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6667500" y="2724150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3B82F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Identifying Today</a:t>
            </a:r>
            <a:endParaRPr lang="en-US" sz="1405" b="1" i="0" u="none" strike="noStrike" cap="none">
              <a:solidFill>
                <a:srgbClr val="3B82F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667500" y="3228975"/>
            <a:ext cx="4476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Method: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Regime Classification (Market State Identification).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6667500" y="4143375"/>
            <a:ext cx="44767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Advantage: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Market environments (Regimes) persist longer than return patterns. Highly robust.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1000125" y="666750"/>
            <a:ext cx="1095136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The Problem: Two Competing Paradigms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762000" y="666750"/>
            <a:ext cx="1143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/>
        </p:nvSpPr>
        <p:spPr>
          <a:xfrm>
            <a:off x="762000" y="3810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9731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SECTION 1: CONTEXT</a:t>
            </a:r>
            <a:endParaRPr lang="en-US" sz="1200" b="0" i="0" u="none" strike="noStrike" cap="none">
              <a:solidFill>
                <a:srgbClr val="F9731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762000" y="2029775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We fixed systemic flaws to ensure results are </a:t>
            </a: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Hardened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and Tradeable: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aphicFrame>
        <p:nvGraphicFramePr>
          <p:cNvPr id="136" name="Google Shape;136;p17"/>
          <p:cNvGraphicFramePr/>
          <p:nvPr/>
        </p:nvGraphicFramePr>
        <p:xfrm>
          <a:off x="762000" y="2696525"/>
          <a:ext cx="10668000" cy="3000000"/>
        </p:xfrm>
        <a:graphic>
          <a:graphicData uri="http://schemas.openxmlformats.org/drawingml/2006/table">
            <a:tbl>
              <a:tblPr firstRow="1" bandRow="1">
                <a:noFill/>
                <a:tableStyleId>{D2ABB753-5703-4A09-A416-04EB9CE7A231}</a:tableStyleId>
              </a:tblPr>
              <a:tblGrid>
                <a:gridCol w="3387475"/>
                <a:gridCol w="3527225"/>
                <a:gridCol w="3753300"/>
              </a:tblGrid>
              <a:tr h="54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3A8A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Weakness (Prior Versions)</a:t>
                      </a:r>
                      <a:endParaRPr lang="en-US" sz="1650" b="1" i="0" u="none" strike="noStrike" cap="none">
                        <a:solidFill>
                          <a:srgbClr val="1E3A8A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3A8A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Our Fix (This Version)</a:t>
                      </a:r>
                      <a:endParaRPr lang="en-US" sz="1650" b="1" i="0" u="none" strike="noStrike" cap="none">
                        <a:solidFill>
                          <a:srgbClr val="1E3A8A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3A8A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Rationale</a:t>
                      </a:r>
                      <a:endParaRPr lang="en-US" sz="1650" b="1" i="0" u="none" strike="noStrike" cap="none">
                        <a:solidFill>
                          <a:srgbClr val="1E3A8A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Strawman TFT Config</a:t>
                      </a:r>
                      <a:endParaRPr lang="en-US" sz="1650" b="1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Adequate Hyperparameters</a:t>
                      </a:r>
                      <a:endParaRPr lang="en-US" sz="1650" b="1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Fair fight for Deep Learning.</a:t>
                      </a:r>
                      <a:endParaRPr lang="en-US" sz="1650" b="0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Banned VIX3M Proxies</a:t>
                      </a:r>
                      <a:endParaRPr lang="en-US" sz="1650" b="1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VIXM/UVXY ETFs</a:t>
                      </a:r>
                      <a:endParaRPr lang="en-US" sz="1650" b="1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Tradeable exchange proxies.</a:t>
                      </a:r>
                      <a:endParaRPr lang="en-US" sz="1650" b="0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Fixed Borrow Costs</a:t>
                      </a:r>
                      <a:endParaRPr lang="en-US" sz="1650" b="1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Dynamic (3% / 8% / 50%)</a:t>
                      </a:r>
                      <a:endParaRPr lang="en-US" sz="1650" b="1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Reflects stress-period liquidity.</a:t>
                      </a:r>
                      <a:endParaRPr lang="en-US" sz="1650" b="0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Static Backtests</a:t>
                      </a:r>
                      <a:endParaRPr lang="en-US" sz="1650" b="1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Purged Walk-Forward</a:t>
                      </a:r>
                      <a:endParaRPr lang="en-US" sz="1650" b="1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Eliminates look-ahead bias.</a:t>
                      </a:r>
                      <a:endParaRPr lang="en-US" sz="1650" b="0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7" name="Google Shape;137;p17"/>
          <p:cNvSpPr/>
          <p:nvPr/>
        </p:nvSpPr>
        <p:spPr>
          <a:xfrm>
            <a:off x="762000" y="3215637"/>
            <a:ext cx="3387600" cy="28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4149476" y="3215637"/>
            <a:ext cx="3527100" cy="28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7676703" y="3215637"/>
            <a:ext cx="3753300" cy="28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762000" y="3787137"/>
            <a:ext cx="3387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4149476" y="3787137"/>
            <a:ext cx="3527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7676703" y="3787137"/>
            <a:ext cx="3753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762000" y="4330062"/>
            <a:ext cx="3387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149476" y="4330062"/>
            <a:ext cx="3527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7676703" y="4330062"/>
            <a:ext cx="3753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762000" y="4872987"/>
            <a:ext cx="3387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4149476" y="4872987"/>
            <a:ext cx="3527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676703" y="4872987"/>
            <a:ext cx="3753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62000" y="5415912"/>
            <a:ext cx="3387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4149476" y="5415912"/>
            <a:ext cx="3527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7676703" y="5415912"/>
            <a:ext cx="3753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1000125" y="666750"/>
            <a:ext cx="1095136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Hardening the Methodology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62000" y="666750"/>
            <a:ext cx="1143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4448175" y="809625"/>
            <a:ext cx="3295650" cy="523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0" b="0" i="0" u="none" strike="noStrike" cap="none">
                <a:solidFill>
                  <a:srgbClr val="3B82F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2</a:t>
            </a:r>
            <a:endParaRPr lang="en-US" sz="41250" b="0" i="0" u="none" strike="noStrike" cap="none">
              <a:solidFill>
                <a:srgbClr val="3B82F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5205412" y="2190750"/>
            <a:ext cx="17811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9731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SECTION 2</a:t>
            </a:r>
            <a:endParaRPr lang="en-US" sz="2100" b="0" i="0" u="none" strike="noStrike" cap="none">
              <a:solidFill>
                <a:srgbClr val="F9731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1546471" y="3124370"/>
            <a:ext cx="9098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3A8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 &amp; The Noise Wall</a:t>
            </a:r>
            <a:endParaRPr lang="en-US" sz="5400" b="1" i="0" u="none" strike="noStrike" cap="none">
              <a:solidFill>
                <a:srgbClr val="1E3A8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/>
        </p:nvSpPr>
        <p:spPr>
          <a:xfrm>
            <a:off x="762000" y="3810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9731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SECTION 2: DATA WALL</a:t>
            </a:r>
            <a:endParaRPr lang="en-US" sz="1200" b="0" i="0" u="none" strike="noStrike" cap="none">
              <a:solidFill>
                <a:srgbClr val="F9731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762000" y="2395537"/>
            <a:ext cx="5048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13 Real Tickers Processed:</a:t>
            </a:r>
            <a:endParaRPr lang="en-US" sz="1800" b="1" i="0" u="none" strike="noStrike" cap="none">
              <a:solidFill>
                <a:srgbClr val="1E3A8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762000" y="4967287"/>
            <a:ext cx="504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All features locked pre-backtest to prevent data mining.</a:t>
            </a:r>
            <a:endParaRPr lang="en-US" sz="1800" b="1" i="0" u="none" strike="noStrike" cap="none">
              <a:solidFill>
                <a:srgbClr val="3B82F6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1009650" y="296703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1143000" y="2967037"/>
            <a:ext cx="4667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Tradeables: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VIXY, SPY, TLT, USO, GLD.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1009650" y="330993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1143000" y="3309937"/>
            <a:ext cx="4667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API Limitations: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^VIX3M blocked; substituted with VIXM Mid-Term ETF.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1009650" y="399573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1143000" y="3995737"/>
            <a:ext cx="4667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Credit Proxies: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HYG-AGG spreads for market fear.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1000125" y="666750"/>
            <a:ext cx="1095136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 &amp; Features: Transparency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762000" y="666750"/>
            <a:ext cx="1143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1" descr="correlation_heatm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0250" y="1381125"/>
            <a:ext cx="5985510" cy="47885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/>
        </p:nvSpPr>
        <p:spPr>
          <a:xfrm>
            <a:off x="762000" y="3810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9731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SECTION 2: DATA WALL</a:t>
            </a:r>
            <a:endParaRPr lang="en-US" sz="1200" b="0" i="0" u="none" strike="noStrike" cap="none">
              <a:solidFill>
                <a:srgbClr val="F9731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381750" y="2500312"/>
            <a:ext cx="50482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F4444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Best AUC: 0.536</a:t>
            </a:r>
            <a:endParaRPr lang="en-US" sz="2250" b="0" i="0" u="none" strike="noStrike" cap="none">
              <a:solidFill>
                <a:srgbClr val="EF4444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184" name="Google Shape;184;p20"/>
          <p:cNvSpPr txBox="1"/>
          <p:nvPr>
            <p:custDataLst>
              <p:tags r:id="rId1"/>
            </p:custDataLst>
          </p:nvPr>
        </p:nvSpPr>
        <p:spPr>
          <a:xfrm>
            <a:off x="6629400" y="321468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5" name="Google Shape;185;p20"/>
          <p:cNvSpPr txBox="1"/>
          <p:nvPr>
            <p:custDataLst>
              <p:tags r:id="rId2"/>
            </p:custDataLst>
          </p:nvPr>
        </p:nvSpPr>
        <p:spPr>
          <a:xfrm>
            <a:off x="6762750" y="3214687"/>
            <a:ext cx="4667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SHAP Evidence: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Mean absolute SHAP values &lt; 0.01 for all features.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6" name="Google Shape;186;p20"/>
          <p:cNvSpPr txBox="1"/>
          <p:nvPr>
            <p:custDataLst>
              <p:tags r:id="rId3"/>
            </p:custDataLst>
          </p:nvPr>
        </p:nvSpPr>
        <p:spPr>
          <a:xfrm>
            <a:off x="6629400" y="390048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7" name="Google Shape;187;p20"/>
          <p:cNvSpPr txBox="1"/>
          <p:nvPr>
            <p:custDataLst>
              <p:tags r:id="rId4"/>
            </p:custDataLst>
          </p:nvPr>
        </p:nvSpPr>
        <p:spPr>
          <a:xfrm>
            <a:off x="6762750" y="3900487"/>
            <a:ext cx="4667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Noise Wall: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Daily directional alpha hits a ceiling at ~55% accuracy.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8" name="Google Shape;188;p20"/>
          <p:cNvSpPr txBox="1"/>
          <p:nvPr>
            <p:custDataLst>
              <p:tags r:id="rId5"/>
            </p:custDataLst>
          </p:nvPr>
        </p:nvSpPr>
        <p:spPr>
          <a:xfrm>
            <a:off x="6629400" y="458628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9" name="Google Shape;189;p20"/>
          <p:cNvSpPr txBox="1"/>
          <p:nvPr>
            <p:custDataLst>
              <p:tags r:id="rId6"/>
            </p:custDataLst>
          </p:nvPr>
        </p:nvSpPr>
        <p:spPr>
          <a:xfrm>
            <a:off x="6762750" y="4586287"/>
            <a:ext cx="4667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Verdict: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Statistically indistinguishable from a random coin toss.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000125" y="666750"/>
            <a:ext cx="1095136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The Noise Wall: ML Failure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762000" y="666750"/>
            <a:ext cx="1143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805" y="1818640"/>
            <a:ext cx="5910580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/>
        </p:nvSpPr>
        <p:spPr>
          <a:xfrm>
            <a:off x="762000" y="3810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9731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SECTION 2: DATA WALL</a:t>
            </a:r>
            <a:endParaRPr lang="en-US" sz="1200" b="0" i="0" u="none" strike="noStrike" cap="none">
              <a:solidFill>
                <a:srgbClr val="F9731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762000" y="2081212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High Capacity != Performance: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Even with 128 hidden units and 4 heads, TFT failed to penetrate noise.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762000" y="5624512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Honest Admission:</a:t>
            </a:r>
            <a:r>
              <a:rPr lang="en-US" sz="1800" b="0" i="1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Not a strawman; just pure market entropy.</a:t>
            </a:r>
            <a:endParaRPr lang="en-US" sz="1800" b="0" i="1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aphicFrame>
        <p:nvGraphicFramePr>
          <p:cNvPr id="199" name="Google Shape;199;p21"/>
          <p:cNvGraphicFramePr/>
          <p:nvPr/>
        </p:nvGraphicFramePr>
        <p:xfrm>
          <a:off x="1081763" y="3178987"/>
          <a:ext cx="10115550" cy="3000000"/>
        </p:xfrm>
        <a:graphic>
          <a:graphicData uri="http://schemas.openxmlformats.org/drawingml/2006/table">
            <a:tbl>
              <a:tblPr firstRow="1" bandRow="1">
                <a:noFill/>
                <a:tableStyleId>{D2ABB753-5703-4A09-A416-04EB9CE7A231}</a:tableStyleId>
              </a:tblPr>
              <a:tblGrid>
                <a:gridCol w="3749725"/>
                <a:gridCol w="2703175"/>
                <a:gridCol w="3662650"/>
              </a:tblGrid>
              <a:tr h="630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3A8A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Model</a:t>
                      </a:r>
                      <a:endParaRPr lang="en-US" sz="1650" b="1" i="0" u="none" strike="noStrike" cap="none">
                        <a:solidFill>
                          <a:srgbClr val="1E3A8A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3A8A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OOS Accuracy</a:t>
                      </a:r>
                      <a:endParaRPr lang="en-US" sz="1650" b="1" i="0" u="none" strike="noStrike" cap="none">
                        <a:solidFill>
                          <a:srgbClr val="1E3A8A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3A8A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Verdict</a:t>
                      </a:r>
                      <a:endParaRPr lang="en-US" sz="1650" b="1" i="0" u="none" strike="noStrike" cap="none">
                        <a:solidFill>
                          <a:srgbClr val="1E3A8A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LSTM Classifier</a:t>
                      </a:r>
                      <a:endParaRPr lang="en-US" sz="1650" b="0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46.77%</a:t>
                      </a:r>
                      <a:endParaRPr lang="en-US" sz="1650" b="0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Random Guess</a:t>
                      </a:r>
                      <a:endParaRPr lang="en-US" sz="1650" b="0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TFusion Transformer</a:t>
                      </a:r>
                      <a:endParaRPr lang="en-US" sz="1650" b="1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F4444"/>
                          </a:solidFill>
                          <a:latin typeface="Inter ExtraBold" panose="02000503000000020004"/>
                          <a:ea typeface="Inter ExtraBold" panose="02000503000000020004"/>
                          <a:cs typeface="Inter ExtraBold" panose="02000503000000020004"/>
                          <a:sym typeface="Inter ExtraBold" panose="02000503000000020004"/>
                        </a:rPr>
                        <a:t>~47%</a:t>
                      </a:r>
                      <a:endParaRPr lang="en-US" sz="1650" b="0" i="0" u="none" strike="noStrike" cap="none">
                        <a:solidFill>
                          <a:srgbClr val="EF4444"/>
                        </a:solidFill>
                        <a:latin typeface="Inter ExtraBold" panose="02000503000000020004"/>
                        <a:ea typeface="Inter ExtraBold" panose="02000503000000020004"/>
                        <a:cs typeface="Inter ExtraBold" panose="02000503000000020004"/>
                        <a:sym typeface="Inter Extra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Failure to Generalize</a:t>
                      </a:r>
                      <a:endParaRPr lang="en-US" sz="1650" b="1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21"/>
          <p:cNvSpPr/>
          <p:nvPr/>
        </p:nvSpPr>
        <p:spPr>
          <a:xfrm>
            <a:off x="1082040" y="3792220"/>
            <a:ext cx="3749724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787949" y="3792220"/>
            <a:ext cx="2703165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7491114" y="3792220"/>
            <a:ext cx="366266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1038225" y="5143500"/>
            <a:ext cx="37497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4787949" y="5143500"/>
            <a:ext cx="27031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7491114" y="5143500"/>
            <a:ext cx="36626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000125" y="666750"/>
            <a:ext cx="1095136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DL Wall of Shame (TFT &amp; LSTM)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762000" y="666750"/>
            <a:ext cx="1143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/>
        </p:nvSpPr>
        <p:spPr>
          <a:xfrm>
            <a:off x="4405312" y="809625"/>
            <a:ext cx="3381375" cy="523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0" b="0" i="0" u="none" strike="noStrike" cap="none">
                <a:solidFill>
                  <a:srgbClr val="3B82F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3</a:t>
            </a:r>
            <a:endParaRPr lang="en-US" sz="41250" b="0" i="0" u="none" strike="noStrike" cap="none">
              <a:solidFill>
                <a:srgbClr val="3B82F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5205412" y="2190750"/>
            <a:ext cx="17811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9731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SECTION 3</a:t>
            </a:r>
            <a:endParaRPr lang="en-US" sz="2100" b="0" i="0" u="none" strike="noStrike" cap="none">
              <a:solidFill>
                <a:srgbClr val="F9731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2640568" y="2609850"/>
            <a:ext cx="69108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3A8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Regime Strategy &amp;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5400" b="1" i="0" u="none" strike="noStrike" cap="none">
                <a:solidFill>
                  <a:srgbClr val="1E3A8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Backtest Results</a:t>
            </a:r>
            <a:endParaRPr lang="en-US" sz="5400" b="1" i="0" u="none" strike="noStrike" cap="none">
              <a:solidFill>
                <a:srgbClr val="1E3A8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/>
        </p:nvSpPr>
        <p:spPr>
          <a:xfrm>
            <a:off x="762000" y="3810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9731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SECTION 3: STRATEGY</a:t>
            </a:r>
            <a:endParaRPr lang="en-US" sz="1200" b="0" i="0" u="none" strike="noStrike" cap="none">
              <a:solidFill>
                <a:srgbClr val="F9731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pic>
        <p:nvPicPr>
          <p:cNvPr id="224" name="Google Shape;224;p23" descr="image.png"/>
          <p:cNvPicPr preferRelativeResize="0"/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2321460" y="197770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>
            <p:custDataLst>
              <p:tags r:id="rId3"/>
            </p:custDataLst>
          </p:nvPr>
        </p:nvSpPr>
        <p:spPr>
          <a:xfrm>
            <a:off x="1149885" y="2530157"/>
            <a:ext cx="280035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WHAT</a:t>
            </a:r>
            <a:endParaRPr lang="en-US" sz="1200" b="1" i="0" u="none" strike="noStrike" cap="none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26" name="Google Shape;226;p23"/>
          <p:cNvSpPr txBox="1"/>
          <p:nvPr>
            <p:custDataLst>
              <p:tags r:id="rId4"/>
            </p:custDataLst>
          </p:nvPr>
        </p:nvSpPr>
        <p:spPr>
          <a:xfrm>
            <a:off x="1216560" y="2939732"/>
            <a:ext cx="266700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Short VIXY roll decay</a:t>
            </a:r>
            <a:endParaRPr lang="en-US" sz="135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27" name="Google Shape;227;p23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5877411" y="197770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>
            <p:custDataLst>
              <p:tags r:id="rId7"/>
            </p:custDataLst>
          </p:nvPr>
        </p:nvSpPr>
        <p:spPr>
          <a:xfrm>
            <a:off x="4705836" y="2530157"/>
            <a:ext cx="280035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WHEN</a:t>
            </a:r>
            <a:endParaRPr lang="en-US" sz="1200" b="1" i="0" u="none" strike="noStrike" cap="none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29" name="Google Shape;229;p23"/>
          <p:cNvSpPr txBox="1"/>
          <p:nvPr>
            <p:custDataLst>
              <p:tags r:id="rId8"/>
            </p:custDataLst>
          </p:nvPr>
        </p:nvSpPr>
        <p:spPr>
          <a:xfrm>
            <a:off x="4772511" y="2939732"/>
            <a:ext cx="266700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ONLY in HMM State 0</a:t>
            </a:r>
            <a:endParaRPr lang="en-US" sz="135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30" name="Google Shape;230;p23" descr="image.png"/>
          <p:cNvPicPr preferRelativeResize="0"/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9433361" y="197770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>
            <p:custDataLst>
              <p:tags r:id="rId11"/>
            </p:custDataLst>
          </p:nvPr>
        </p:nvSpPr>
        <p:spPr>
          <a:xfrm>
            <a:off x="8261786" y="2530157"/>
            <a:ext cx="280035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HOW MUCH</a:t>
            </a:r>
            <a:endParaRPr lang="en-US" sz="1200" b="1" i="0" u="none" strike="noStrike" cap="none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32" name="Google Shape;232;p23"/>
          <p:cNvSpPr txBox="1"/>
          <p:nvPr>
            <p:custDataLst>
              <p:tags r:id="rId12"/>
            </p:custDataLst>
          </p:nvPr>
        </p:nvSpPr>
        <p:spPr>
          <a:xfrm>
            <a:off x="8328461" y="2939732"/>
            <a:ext cx="266700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Scaled by Term Structure</a:t>
            </a:r>
            <a:endParaRPr lang="en-US" sz="135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1000125" y="666750"/>
            <a:ext cx="1095136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Winning Strategy: HMM + Roll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762000" y="666750"/>
            <a:ext cx="1143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1" descr="hmm_state_analysi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31315" y="3550285"/>
            <a:ext cx="8568690" cy="2856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/>
          <p:nvPr/>
        </p:nvSpPr>
        <p:spPr>
          <a:xfrm>
            <a:off x="762000" y="3810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9731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SECTION 3: PERFORMANCE</a:t>
            </a:r>
            <a:endParaRPr lang="en-US" sz="1200" b="0" i="0" u="none" strike="noStrike" cap="none">
              <a:solidFill>
                <a:srgbClr val="F9731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graphicFrame>
        <p:nvGraphicFramePr>
          <p:cNvPr id="240" name="Google Shape;240;p24"/>
          <p:cNvGraphicFramePr/>
          <p:nvPr/>
        </p:nvGraphicFramePr>
        <p:xfrm>
          <a:off x="762000" y="2276475"/>
          <a:ext cx="10668000" cy="3000000"/>
        </p:xfrm>
        <a:graphic>
          <a:graphicData uri="http://schemas.openxmlformats.org/drawingml/2006/table">
            <a:tbl>
              <a:tblPr firstRow="1" bandRow="1">
                <a:noFill/>
                <a:tableStyleId>{D2ABB753-5703-4A09-A416-04EB9CE7A231}</a:tableStyleId>
              </a:tblPr>
              <a:tblGrid>
                <a:gridCol w="3328550"/>
                <a:gridCol w="3960900"/>
                <a:gridCol w="3378550"/>
              </a:tblGrid>
              <a:tr h="54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3A8A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Metric</a:t>
                      </a:r>
                      <a:endParaRPr lang="en-US" sz="1650" b="1" i="0" u="none" strike="noStrike" cap="none">
                        <a:solidFill>
                          <a:srgbClr val="1E3A8A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3A8A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HMM Dual Filter (B)</a:t>
                      </a:r>
                      <a:endParaRPr lang="en-US" sz="1650" b="1" i="0" u="none" strike="noStrike" cap="none">
                        <a:solidFill>
                          <a:srgbClr val="1E3A8A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E3A8A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SPY Benchmark</a:t>
                      </a:r>
                      <a:endParaRPr lang="en-US" sz="1650" b="1" i="0" u="none" strike="noStrike" cap="none">
                        <a:solidFill>
                          <a:srgbClr val="1E3A8A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CAGR</a:t>
                      </a:r>
                      <a:endParaRPr lang="en-US" sz="1650" b="1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E3A8A"/>
                          </a:solidFill>
                          <a:latin typeface="Inter ExtraBold" panose="02000503000000020004"/>
                          <a:ea typeface="Inter ExtraBold" panose="02000503000000020004"/>
                          <a:cs typeface="Inter ExtraBold" panose="02000503000000020004"/>
                          <a:sym typeface="Inter ExtraBold" panose="02000503000000020004"/>
                        </a:rPr>
                        <a:t>29.34%</a:t>
                      </a:r>
                      <a:endParaRPr lang="en-US" sz="1650" b="0" i="0" u="none" strike="noStrike" cap="none">
                        <a:solidFill>
                          <a:srgbClr val="1E3A8A"/>
                        </a:solidFill>
                        <a:latin typeface="Inter ExtraBold" panose="02000503000000020004"/>
                        <a:ea typeface="Inter ExtraBold" panose="02000503000000020004"/>
                        <a:cs typeface="Inter ExtraBold" panose="02000503000000020004"/>
                        <a:sym typeface="Inter Extra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8.44%</a:t>
                      </a:r>
                      <a:endParaRPr lang="en-US" sz="1650" b="0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Sharpe Ratio</a:t>
                      </a:r>
                      <a:endParaRPr lang="en-US" sz="1650" b="1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E3A8A"/>
                          </a:solidFill>
                          <a:latin typeface="Inter ExtraBold" panose="02000503000000020004"/>
                          <a:ea typeface="Inter ExtraBold" panose="02000503000000020004"/>
                          <a:cs typeface="Inter ExtraBold" panose="02000503000000020004"/>
                          <a:sym typeface="Inter ExtraBold" panose="02000503000000020004"/>
                        </a:rPr>
                        <a:t>1.815</a:t>
                      </a:r>
                      <a:endParaRPr lang="en-US" sz="1650" b="0" i="0" u="none" strike="noStrike" cap="none">
                        <a:solidFill>
                          <a:srgbClr val="1E3A8A"/>
                        </a:solidFill>
                        <a:latin typeface="Inter ExtraBold" panose="02000503000000020004"/>
                        <a:ea typeface="Inter ExtraBold" panose="02000503000000020004"/>
                        <a:cs typeface="Inter ExtraBold" panose="02000503000000020004"/>
                        <a:sym typeface="Inter Extra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0.491</a:t>
                      </a:r>
                      <a:endParaRPr lang="en-US" sz="1650" b="0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Max Drawdown</a:t>
                      </a:r>
                      <a:endParaRPr lang="en-US" sz="1650" b="1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F4444"/>
                          </a:solidFill>
                          <a:latin typeface="Inter ExtraBold" panose="02000503000000020004"/>
                          <a:ea typeface="Inter ExtraBold" panose="02000503000000020004"/>
                          <a:cs typeface="Inter ExtraBold" panose="02000503000000020004"/>
                          <a:sym typeface="Inter ExtraBold" panose="02000503000000020004"/>
                        </a:rPr>
                        <a:t>-11.84%</a:t>
                      </a:r>
                      <a:endParaRPr lang="en-US" sz="1650" b="0" i="0" u="none" strike="noStrike" cap="none">
                        <a:solidFill>
                          <a:srgbClr val="EF4444"/>
                        </a:solidFill>
                        <a:latin typeface="Inter ExtraBold" panose="02000503000000020004"/>
                        <a:ea typeface="Inter ExtraBold" panose="02000503000000020004"/>
                        <a:cs typeface="Inter ExtraBold" panose="02000503000000020004"/>
                        <a:sym typeface="Inter Extra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-33.95%</a:t>
                      </a:r>
                      <a:endParaRPr lang="en-US" sz="1650" b="0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Calmar Ratio</a:t>
                      </a:r>
                      <a:endParaRPr lang="en-US" sz="1650" b="1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E3A8A"/>
                          </a:solidFill>
                          <a:latin typeface="Inter ExtraBold" panose="02000503000000020004"/>
                          <a:ea typeface="Inter ExtraBold" panose="02000503000000020004"/>
                          <a:cs typeface="Inter ExtraBold" panose="02000503000000020004"/>
                          <a:sym typeface="Inter ExtraBold" panose="02000503000000020004"/>
                        </a:rPr>
                        <a:t>2.478</a:t>
                      </a:r>
                      <a:endParaRPr lang="en-US" sz="1650" b="0" i="0" u="none" strike="noStrike" cap="none">
                        <a:solidFill>
                          <a:srgbClr val="1E3A8A"/>
                        </a:solidFill>
                        <a:latin typeface="Inter ExtraBold" panose="02000503000000020004"/>
                        <a:ea typeface="Inter ExtraBold" panose="02000503000000020004"/>
                        <a:cs typeface="Inter ExtraBold" panose="02000503000000020004"/>
                        <a:sym typeface="Inter Extra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0.249</a:t>
                      </a:r>
                      <a:endParaRPr lang="en-US" sz="1650" b="0" i="0" u="none" strike="noStrike" cap="none">
                        <a:solidFill>
                          <a:srgbClr val="000000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p24"/>
          <p:cNvSpPr txBox="1"/>
          <p:nvPr/>
        </p:nvSpPr>
        <p:spPr>
          <a:xfrm>
            <a:off x="762000" y="52959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Key Finding: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Dynamic borrow fees (up to 50%) were successfully navigated by the HMM filter.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762000" y="2795587"/>
            <a:ext cx="3328541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4090541" y="2795587"/>
            <a:ext cx="3960911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8051452" y="2795587"/>
            <a:ext cx="3378547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762000" y="3367087"/>
            <a:ext cx="33285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4090541" y="3367087"/>
            <a:ext cx="3960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8051452" y="3367087"/>
            <a:ext cx="3378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762000" y="3910012"/>
            <a:ext cx="33285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4090541" y="3910012"/>
            <a:ext cx="3960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8051452" y="3910012"/>
            <a:ext cx="3378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762000" y="4452937"/>
            <a:ext cx="33285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4090541" y="4452937"/>
            <a:ext cx="3960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8051452" y="4452937"/>
            <a:ext cx="3378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762000" y="4995862"/>
            <a:ext cx="33285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4090541" y="4995862"/>
            <a:ext cx="3960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8051452" y="4995862"/>
            <a:ext cx="3378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1000125" y="666750"/>
            <a:ext cx="1095136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Backtest: Scenario 2 (Dynamic)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762000" y="666750"/>
            <a:ext cx="1143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"/>
          <p:cNvSpPr txBox="1"/>
          <p:nvPr/>
        </p:nvSpPr>
        <p:spPr>
          <a:xfrm>
            <a:off x="762000" y="3810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9731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SECTION 3: PERFORMANCE</a:t>
            </a:r>
            <a:endParaRPr lang="en-US" sz="1200" b="0" i="0" u="none" strike="noStrike" cap="none">
              <a:solidFill>
                <a:srgbClr val="F9731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1739265" y="470376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1872615" y="4619625"/>
            <a:ext cx="7942580" cy="83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Crisis Immunity: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Strategy exited before "Volmageddon" (2018) and COVID (2020) peaks.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1739265" y="554005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1872615" y="5539740"/>
            <a:ext cx="7448550" cy="83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Structural Edge: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Captured 6.9x equity while VIXY buy-hold went to ~0.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1000125" y="666750"/>
            <a:ext cx="1095136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Performance Visualization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762000" y="666750"/>
            <a:ext cx="1143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1" descr="equity_curv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1875" y="1219200"/>
            <a:ext cx="7084060" cy="34004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/>
          <p:nvPr/>
        </p:nvSpPr>
        <p:spPr>
          <a:xfrm>
            <a:off x="4324350" y="809625"/>
            <a:ext cx="3543300" cy="523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0" b="0" i="0" u="none" strike="noStrike" cap="none">
                <a:solidFill>
                  <a:srgbClr val="3B82F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4</a:t>
            </a:r>
            <a:endParaRPr lang="en-US" sz="41250" b="0" i="0" u="none" strike="noStrike" cap="none">
              <a:solidFill>
                <a:srgbClr val="3B82F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5200650" y="2190750"/>
            <a:ext cx="179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9731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SECTION 4</a:t>
            </a:r>
            <a:endParaRPr lang="en-US" sz="2100" b="0" i="0" u="none" strike="noStrike" cap="none">
              <a:solidFill>
                <a:srgbClr val="F9731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-143230" y="3208775"/>
            <a:ext cx="12756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3A8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Core Insights </a:t>
            </a:r>
            <a:r>
              <a:rPr lang="en-US" sz="5400" b="1" i="0" u="none" strike="noStrike" cap="none">
                <a:solidFill>
                  <a:srgbClr val="1E3A8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&amp; </a:t>
            </a:r>
            <a:r>
              <a:rPr lang="en-US" sz="5400" b="1" i="0" u="none" strike="noStrike" cap="none">
                <a:solidFill>
                  <a:srgbClr val="1E3A8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Conclusion</a:t>
            </a:r>
            <a:endParaRPr lang="en-US" sz="5400" b="1" i="0" u="none" strike="noStrike" cap="none">
              <a:solidFill>
                <a:srgbClr val="1E3A8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7" descr="image.png"/>
          <p:cNvPicPr preferRelativeResize="0"/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762000" y="2052637"/>
            <a:ext cx="10668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 descr="image.png"/>
          <p:cNvPicPr preferRelativeResize="0"/>
          <p:nvPr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762000" y="3319462"/>
            <a:ext cx="106680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762000" y="4729162"/>
            <a:ext cx="10668000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7"/>
          <p:cNvSpPr txBox="1"/>
          <p:nvPr/>
        </p:nvSpPr>
        <p:spPr>
          <a:xfrm>
            <a:off x="762000" y="3810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9731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SECTION 4: INSIGHTS</a:t>
            </a:r>
            <a:endParaRPr lang="en-US" sz="1200" b="0" i="0" u="none" strike="noStrike" cap="none">
              <a:solidFill>
                <a:srgbClr val="F9731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286" name="Google Shape;286;p27"/>
          <p:cNvSpPr txBox="1"/>
          <p:nvPr>
            <p:custDataLst>
              <p:tags r:id="rId7"/>
            </p:custDataLst>
          </p:nvPr>
        </p:nvSpPr>
        <p:spPr>
          <a:xfrm>
            <a:off x="1219200" y="2405062"/>
            <a:ext cx="28003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B82F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1. The Noise Wall</a:t>
            </a:r>
            <a:endParaRPr lang="en-US" sz="1950" b="1" i="0" u="none" strike="noStrike" cap="none">
              <a:solidFill>
                <a:srgbClr val="3B82F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87" name="Google Shape;287;p27"/>
          <p:cNvSpPr txBox="1"/>
          <p:nvPr>
            <p:custDataLst>
              <p:tags r:id="rId8"/>
            </p:custDataLst>
          </p:nvPr>
        </p:nvSpPr>
        <p:spPr>
          <a:xfrm>
            <a:off x="3886200" y="2290762"/>
            <a:ext cx="71628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Directional alpha has a ~55% accuracy ceiling. Complex ML should be a </a:t>
            </a:r>
            <a:r>
              <a:rPr lang="en-US" sz="1575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Risk Engineer</a:t>
            </a:r>
            <a:r>
              <a:rPr lang="en-US" sz="1575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, not a fortune teller.</a:t>
            </a:r>
            <a:endParaRPr lang="en-US" sz="1575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88" name="Google Shape;288;p27"/>
          <p:cNvSpPr txBox="1"/>
          <p:nvPr>
            <p:custDataLst>
              <p:tags r:id="rId9"/>
            </p:custDataLst>
          </p:nvPr>
        </p:nvSpPr>
        <p:spPr>
          <a:xfrm>
            <a:off x="1000125" y="3734117"/>
            <a:ext cx="28003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B82F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2. Regime Persistence</a:t>
            </a:r>
            <a:endParaRPr lang="en-US" sz="1950" b="1" i="0" u="none" strike="noStrike" cap="none">
              <a:solidFill>
                <a:srgbClr val="3B82F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89" name="Google Shape;289;p27"/>
          <p:cNvSpPr txBox="1"/>
          <p:nvPr>
            <p:custDataLst>
              <p:tags r:id="rId10"/>
            </p:custDataLst>
          </p:nvPr>
        </p:nvSpPr>
        <p:spPr>
          <a:xfrm>
            <a:off x="3886200" y="3629025"/>
            <a:ext cx="71628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Market states cluster; returns do not. Environment identification is </a:t>
            </a:r>
            <a:r>
              <a:rPr lang="en-US" sz="1575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5x more stable</a:t>
            </a:r>
            <a:r>
              <a:rPr lang="en-US" sz="1575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than price prediction.</a:t>
            </a:r>
            <a:endParaRPr lang="en-US" sz="1575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90" name="Google Shape;290;p27"/>
          <p:cNvSpPr txBox="1"/>
          <p:nvPr>
            <p:custDataLst>
              <p:tags r:id="rId11"/>
            </p:custDataLst>
          </p:nvPr>
        </p:nvSpPr>
        <p:spPr>
          <a:xfrm>
            <a:off x="1219200" y="5081587"/>
            <a:ext cx="28003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B82F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3. Structural Alpha</a:t>
            </a:r>
            <a:endParaRPr lang="en-US" sz="1950" b="1" i="0" u="none" strike="noStrike" cap="none">
              <a:solidFill>
                <a:srgbClr val="3B82F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91" name="Google Shape;291;p27"/>
          <p:cNvSpPr txBox="1"/>
          <p:nvPr>
            <p:custDataLst>
              <p:tags r:id="rId12"/>
            </p:custDataLst>
          </p:nvPr>
        </p:nvSpPr>
        <p:spPr>
          <a:xfrm>
            <a:off x="3886200" y="4967287"/>
            <a:ext cx="71628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Roll decay is a </a:t>
            </a:r>
            <a:r>
              <a:rPr lang="en-US" sz="1575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friction-based harvest</a:t>
            </a:r>
            <a:r>
              <a:rPr lang="en-US" sz="1575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(insurance demand) that cannot be easily arbitraged away.</a:t>
            </a:r>
            <a:endParaRPr lang="en-US" sz="1575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1000125" y="666750"/>
            <a:ext cx="1095136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The Three Pillars of Vol Trading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762000" y="666750"/>
            <a:ext cx="1143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81750" y="2514917"/>
            <a:ext cx="504825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762000" y="3810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9731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SECTION 4: CONCLUSION</a:t>
            </a:r>
            <a:endParaRPr lang="en-US" sz="1200" b="0" i="0" u="none" strike="noStrike" cap="none">
              <a:solidFill>
                <a:srgbClr val="F9731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300" name="Google Shape;300;p28"/>
          <p:cNvSpPr txBox="1"/>
          <p:nvPr/>
        </p:nvSpPr>
        <p:spPr>
          <a:xfrm>
            <a:off x="876300" y="2514917"/>
            <a:ext cx="5048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Strategic Recomm:</a:t>
            </a:r>
            <a:endParaRPr lang="en-US" sz="1800" b="1" i="0" u="none" strike="noStrike" cap="none">
              <a:solidFill>
                <a:srgbClr val="1E3A8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1" name="Google Shape;301;p28"/>
          <p:cNvSpPr txBox="1"/>
          <p:nvPr/>
        </p:nvSpPr>
        <p:spPr>
          <a:xfrm>
            <a:off x="1009650" y="320516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2" name="Google Shape;302;p28"/>
          <p:cNvSpPr txBox="1"/>
          <p:nvPr/>
        </p:nvSpPr>
        <p:spPr>
          <a:xfrm>
            <a:off x="1143000" y="3205162"/>
            <a:ext cx="4667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Allocate 10-15% as </a:t>
            </a:r>
            <a:r>
              <a:rPr lang="en-US" sz="1800" b="1" i="0" u="none" strike="noStrike" cap="none">
                <a:solidFill>
                  <a:srgbClr val="1E3A8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Alternative Beta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3" name="Google Shape;303;p28"/>
          <p:cNvSpPr txBox="1"/>
          <p:nvPr/>
        </p:nvSpPr>
        <p:spPr>
          <a:xfrm>
            <a:off x="1009650" y="354806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4" name="Google Shape;304;p28"/>
          <p:cNvSpPr txBox="1"/>
          <p:nvPr/>
        </p:nvSpPr>
        <p:spPr>
          <a:xfrm>
            <a:off x="1143000" y="3548062"/>
            <a:ext cx="4667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Redirect ML from forecasting to State Detection.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5" name="Google Shape;305;p28"/>
          <p:cNvSpPr txBox="1"/>
          <p:nvPr/>
        </p:nvSpPr>
        <p:spPr>
          <a:xfrm>
            <a:off x="1009650" y="423386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6" name="Google Shape;306;p28"/>
          <p:cNvSpPr txBox="1"/>
          <p:nvPr/>
        </p:nvSpPr>
        <p:spPr>
          <a:xfrm>
            <a:off x="1143000" y="4233862"/>
            <a:ext cx="4667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Adopt the "Honesty-First Protocol".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6629400" y="2818447"/>
            <a:ext cx="4552950" cy="96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1" u="none" strike="noStrike" cap="none">
                <a:solidFill>
                  <a:schemeClr val="bg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"Not predicting is far more profitable than predicting poorly."</a:t>
            </a:r>
            <a:endParaRPr lang="en-US" sz="2100" b="1" i="1" u="none" strike="noStrike" cap="none">
              <a:solidFill>
                <a:schemeClr val="bg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8" name="Google Shape;308;p28"/>
          <p:cNvSpPr txBox="1"/>
          <p:nvPr/>
        </p:nvSpPr>
        <p:spPr>
          <a:xfrm>
            <a:off x="1000125" y="666750"/>
            <a:ext cx="1095136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Conclusion: Final Strategy Path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762000" y="666750"/>
            <a:ext cx="1143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/>
          <p:nvPr/>
        </p:nvSpPr>
        <p:spPr>
          <a:xfrm>
            <a:off x="4324350" y="809625"/>
            <a:ext cx="3543300" cy="634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0" b="0" i="0" u="none" strike="noStrike" cap="none">
                <a:solidFill>
                  <a:srgbClr val="3B82F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5</a:t>
            </a:r>
            <a:endParaRPr lang="en-US" sz="41250" b="0" i="0" u="none" strike="noStrike" cap="none">
              <a:solidFill>
                <a:srgbClr val="3B82F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5200650" y="2190750"/>
            <a:ext cx="1790700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9731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SECTION 5</a:t>
            </a:r>
            <a:endParaRPr lang="en-US" sz="2100" b="0" i="0" u="none" strike="noStrike" cap="none">
              <a:solidFill>
                <a:srgbClr val="F9731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-143230" y="3208775"/>
            <a:ext cx="12756300" cy="249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00" b="1" i="0" u="none" strike="noStrike" cap="none">
                <a:solidFill>
                  <a:srgbClr val="1E3A8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Extension Study</a:t>
            </a:r>
            <a:endParaRPr lang="en-US" altLang="zh-CN" sz="5400" b="1" i="0" u="none" strike="noStrike" cap="none">
              <a:solidFill>
                <a:srgbClr val="1E3A8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5400" b="1" i="0" u="none" strike="noStrike" cap="none">
              <a:solidFill>
                <a:srgbClr val="1E3A8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5400" b="1" i="0" u="none" strike="noStrike" cap="none">
              <a:solidFill>
                <a:srgbClr val="1E3A8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2985" y="5879465"/>
            <a:ext cx="1143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Deep Learning Exploration: LSTM &amp; TFT on Multi-Asset Portfolios</a:t>
            </a:r>
            <a:endParaRPr lang="en-US" sz="2800" b="1" dirty="0">
              <a:solidFill>
                <a:schemeClr val="bg1">
                  <a:lumMod val="75000"/>
                </a:schemeClr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700" y="619125"/>
            <a:ext cx="114300" cy="61912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904875" y="619125"/>
            <a:ext cx="3810000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kern="0" spc="100" dirty="0">
                <a:solidFill>
                  <a:srgbClr val="F9731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SECTION 5: EXTENSION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04875" y="952500"/>
            <a:ext cx="10477500" cy="5238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F172A"/>
                </a:solidFill>
                <a:latin typeface="Poppins" panose="00000500000000000000" charset="0"/>
                <a:ea typeface="Poppins" panose="00000500000000000000" pitchFamily="34" charset="-122"/>
                <a:cs typeface="Poppins" panose="00000500000000000000" pitchFamily="34" charset="-120"/>
              </a:rPr>
              <a:t>Motivation: Why Expand the Study?</a:t>
            </a:r>
            <a:endParaRPr lang="en-US" sz="12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647700" y="1714500"/>
            <a:ext cx="5286375" cy="400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952500" y="2000250"/>
            <a:ext cx="457200" cy="457200"/>
          </a:xfrm>
          <a:prstGeom prst="ellipse">
            <a:avLst/>
          </a:prstGeom>
          <a:solidFill>
            <a:srgbClr val="FEE2E2"/>
          </a:solidFill>
        </p:spPr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1066800" y="2114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52400" y="80962"/>
                </a:moveTo>
                <a:cubicBezTo>
                  <a:pt x="160318" y="80962"/>
                  <a:pt x="166688" y="87332"/>
                  <a:pt x="166688" y="95250"/>
                </a:cubicBezTo>
                <a:lnTo>
                  <a:pt x="166688" y="161925"/>
                </a:lnTo>
                <a:cubicBezTo>
                  <a:pt x="166688" y="169843"/>
                  <a:pt x="160318" y="176212"/>
                  <a:pt x="152400" y="176212"/>
                </a:cubicBezTo>
                <a:cubicBezTo>
                  <a:pt x="144482" y="176212"/>
                  <a:pt x="138113" y="169843"/>
                  <a:pt x="138113" y="161925"/>
                </a:cubicBezTo>
                <a:lnTo>
                  <a:pt x="138113" y="95250"/>
                </a:lnTo>
                <a:cubicBezTo>
                  <a:pt x="138113" y="87332"/>
                  <a:pt x="144482" y="80962"/>
                  <a:pt x="152400" y="80962"/>
                </a:cubicBezTo>
                <a:close/>
                <a:moveTo>
                  <a:pt x="136505" y="209550"/>
                </a:moveTo>
                <a:cubicBezTo>
                  <a:pt x="136144" y="203650"/>
                  <a:pt x="139086" y="198037"/>
                  <a:pt x="144144" y="194977"/>
                </a:cubicBezTo>
                <a:cubicBezTo>
                  <a:pt x="149201" y="191918"/>
                  <a:pt x="155539" y="191918"/>
                  <a:pt x="160597" y="194977"/>
                </a:cubicBezTo>
                <a:cubicBezTo>
                  <a:pt x="165655" y="198037"/>
                  <a:pt x="168597" y="203650"/>
                  <a:pt x="168235" y="209550"/>
                </a:cubicBezTo>
                <a:cubicBezTo>
                  <a:pt x="168597" y="215450"/>
                  <a:pt x="165655" y="221063"/>
                  <a:pt x="160597" y="224123"/>
                </a:cubicBezTo>
                <a:cubicBezTo>
                  <a:pt x="155539" y="227182"/>
                  <a:pt x="149201" y="227182"/>
                  <a:pt x="144144" y="224123"/>
                </a:cubicBezTo>
                <a:cubicBezTo>
                  <a:pt x="139086" y="221063"/>
                  <a:pt x="136144" y="215450"/>
                  <a:pt x="136505" y="209550"/>
                </a:cubicBezTo>
                <a:close/>
              </a:path>
            </a:pathLst>
          </a:custGeom>
          <a:solidFill>
            <a:srgbClr val="EF4444"/>
          </a:solidFill>
        </p:spPr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571625" y="2000250"/>
            <a:ext cx="40005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Poppins" panose="00000500000000000000" charset="0"/>
                <a:ea typeface="Poppins" panose="00000500000000000000" pitchFamily="34" charset="-122"/>
                <a:cs typeface="Poppins" panose="00000500000000000000" pitchFamily="34" charset="-120"/>
              </a:rPr>
              <a:t>Single-Series Limitation</a:t>
            </a:r>
            <a:endParaRPr lang="en-US" sz="12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952500" y="2557780"/>
            <a:ext cx="4667250" cy="3028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5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Single sequence samples cannot effectively train LSTM/TFT and other temporal models</a:t>
            </a:r>
            <a:endParaRPr lang="en-US" altLang="zh-CN" sz="1650" dirty="0">
              <a:solidFill>
                <a:srgbClr val="1E3A8A"/>
              </a:solidFill>
              <a:latin typeface="Inter" panose="02000503000000020004" charset="0"/>
              <a:ea typeface="Inter" panose="02000503000000020004" pitchFamily="34" charset="-122"/>
              <a:cs typeface="Inter" panose="020005030000000200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5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Insufficient data volume leads to severe underfitting of deep learning models</a:t>
            </a:r>
            <a:endParaRPr lang="en-US" altLang="zh-CN" sz="1650" dirty="0">
              <a:solidFill>
                <a:srgbClr val="1E3A8A"/>
              </a:solidFill>
              <a:latin typeface="Inter" panose="02000503000000020004" charset="0"/>
              <a:ea typeface="Inter" panose="02000503000000020004" pitchFamily="34" charset="-122"/>
              <a:cs typeface="Inter" panose="020005030000000200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5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The prediction performance is close to random guessing (~47% accuracy)</a:t>
            </a:r>
            <a:endParaRPr lang="en-US" altLang="zh-CN" sz="1650" dirty="0">
              <a:solidFill>
                <a:srgbClr val="1E3A8A"/>
              </a:solidFill>
              <a:latin typeface="Inter" panose="02000503000000020004" charset="0"/>
              <a:ea typeface="Inter" panose="02000503000000020004" pitchFamily="34" charset="-122"/>
              <a:cs typeface="Inter" panose="020005030000000200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5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Traditional ML models also face the dilemma of noise walls</a:t>
            </a:r>
            <a:r>
              <a:rPr lang="en-US" sz="165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endParaRPr lang="en-US" sz="1200" dirty="0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6219825" y="1714500"/>
            <a:ext cx="5286375" cy="400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6524625" y="2000250"/>
            <a:ext cx="457200" cy="457200"/>
          </a:xfrm>
          <a:prstGeom prst="ellipse">
            <a:avLst/>
          </a:prstGeom>
          <a:solidFill>
            <a:srgbClr val="DBEAFE"/>
          </a:solidFill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6638925" y="2114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7150" y="19050"/>
                </a:moveTo>
                <a:cubicBezTo>
                  <a:pt x="46613" y="19050"/>
                  <a:pt x="38100" y="27563"/>
                  <a:pt x="38100" y="38100"/>
                </a:cubicBezTo>
                <a:cubicBezTo>
                  <a:pt x="38100" y="48637"/>
                  <a:pt x="46613" y="57150"/>
                  <a:pt x="57150" y="57150"/>
                </a:cubicBezTo>
                <a:lnTo>
                  <a:pt x="68282" y="57150"/>
                </a:lnTo>
                <a:lnTo>
                  <a:pt x="5596" y="119896"/>
                </a:lnTo>
                <a:cubicBezTo>
                  <a:pt x="-1845" y="127337"/>
                  <a:pt x="-1845" y="139422"/>
                  <a:pt x="5596" y="146864"/>
                </a:cubicBezTo>
                <a:cubicBezTo>
                  <a:pt x="13037" y="154305"/>
                  <a:pt x="25122" y="154305"/>
                  <a:pt x="32564" y="146864"/>
                </a:cubicBezTo>
                <a:lnTo>
                  <a:pt x="95250" y="84118"/>
                </a:lnTo>
                <a:lnTo>
                  <a:pt x="95250" y="95250"/>
                </a:lnTo>
                <a:cubicBezTo>
                  <a:pt x="95250" y="105787"/>
                  <a:pt x="103763" y="114300"/>
                  <a:pt x="114300" y="114300"/>
                </a:cubicBezTo>
                <a:cubicBezTo>
                  <a:pt x="124837" y="114300"/>
                  <a:pt x="133350" y="105787"/>
                  <a:pt x="133350" y="95250"/>
                </a:cubicBezTo>
                <a:lnTo>
                  <a:pt x="133350" y="38100"/>
                </a:lnTo>
                <a:cubicBezTo>
                  <a:pt x="133350" y="27563"/>
                  <a:pt x="124837" y="19050"/>
                  <a:pt x="114300" y="19050"/>
                </a:cubicBezTo>
                <a:lnTo>
                  <a:pt x="57150" y="19050"/>
                </a:lnTo>
                <a:close/>
                <a:moveTo>
                  <a:pt x="240387" y="41731"/>
                </a:moveTo>
                <a:cubicBezTo>
                  <a:pt x="240387" y="49835"/>
                  <a:pt x="244710" y="57322"/>
                  <a:pt x="251728" y="61374"/>
                </a:cubicBezTo>
                <a:cubicBezTo>
                  <a:pt x="258746" y="65426"/>
                  <a:pt x="267392" y="65426"/>
                  <a:pt x="274409" y="61374"/>
                </a:cubicBezTo>
                <a:cubicBezTo>
                  <a:pt x="281427" y="57322"/>
                  <a:pt x="285750" y="49835"/>
                  <a:pt x="285750" y="41731"/>
                </a:cubicBezTo>
                <a:cubicBezTo>
                  <a:pt x="285750" y="33628"/>
                  <a:pt x="281427" y="26140"/>
                  <a:pt x="274409" y="22089"/>
                </a:cubicBezTo>
                <a:cubicBezTo>
                  <a:pt x="267392" y="18037"/>
                  <a:pt x="258746" y="18037"/>
                  <a:pt x="251728" y="22089"/>
                </a:cubicBezTo>
                <a:cubicBezTo>
                  <a:pt x="244710" y="26140"/>
                  <a:pt x="240387" y="33628"/>
                  <a:pt x="240387" y="41731"/>
                </a:cubicBezTo>
                <a:close/>
                <a:moveTo>
                  <a:pt x="166509" y="115610"/>
                </a:moveTo>
                <a:cubicBezTo>
                  <a:pt x="166509" y="123713"/>
                  <a:pt x="170832" y="131201"/>
                  <a:pt x="177850" y="135252"/>
                </a:cubicBezTo>
                <a:cubicBezTo>
                  <a:pt x="184867" y="139304"/>
                  <a:pt x="193513" y="139304"/>
                  <a:pt x="200531" y="135252"/>
                </a:cubicBezTo>
                <a:cubicBezTo>
                  <a:pt x="207549" y="131201"/>
                  <a:pt x="211872" y="123713"/>
                  <a:pt x="211872" y="115610"/>
                </a:cubicBezTo>
                <a:cubicBezTo>
                  <a:pt x="211872" y="107506"/>
                  <a:pt x="207549" y="100019"/>
                  <a:pt x="200531" y="95967"/>
                </a:cubicBezTo>
                <a:cubicBezTo>
                  <a:pt x="193513" y="91915"/>
                  <a:pt x="184867" y="91915"/>
                  <a:pt x="177850" y="95967"/>
                </a:cubicBezTo>
                <a:cubicBezTo>
                  <a:pt x="170832" y="100019"/>
                  <a:pt x="166509" y="107506"/>
                  <a:pt x="166509" y="115610"/>
                </a:cubicBezTo>
                <a:close/>
                <a:moveTo>
                  <a:pt x="263069" y="92928"/>
                </a:moveTo>
                <a:cubicBezTo>
                  <a:pt x="250550" y="92928"/>
                  <a:pt x="240387" y="103091"/>
                  <a:pt x="240387" y="115610"/>
                </a:cubicBezTo>
                <a:cubicBezTo>
                  <a:pt x="240387" y="128128"/>
                  <a:pt x="250550" y="138291"/>
                  <a:pt x="263069" y="138291"/>
                </a:cubicBezTo>
                <a:cubicBezTo>
                  <a:pt x="271172" y="138291"/>
                  <a:pt x="278660" y="133968"/>
                  <a:pt x="282711" y="126950"/>
                </a:cubicBezTo>
                <a:cubicBezTo>
                  <a:pt x="286763" y="119933"/>
                  <a:pt x="286763" y="111287"/>
                  <a:pt x="282711" y="104269"/>
                </a:cubicBezTo>
                <a:cubicBezTo>
                  <a:pt x="278660" y="97251"/>
                  <a:pt x="271172" y="92928"/>
                  <a:pt x="263069" y="92928"/>
                </a:cubicBezTo>
                <a:close/>
                <a:moveTo>
                  <a:pt x="92988" y="189190"/>
                </a:moveTo>
                <a:cubicBezTo>
                  <a:pt x="92988" y="197294"/>
                  <a:pt x="97311" y="204781"/>
                  <a:pt x="104329" y="208833"/>
                </a:cubicBezTo>
                <a:cubicBezTo>
                  <a:pt x="111346" y="212885"/>
                  <a:pt x="119992" y="212885"/>
                  <a:pt x="127010" y="208833"/>
                </a:cubicBezTo>
                <a:cubicBezTo>
                  <a:pt x="134028" y="204781"/>
                  <a:pt x="138351" y="197294"/>
                  <a:pt x="138351" y="189190"/>
                </a:cubicBezTo>
                <a:cubicBezTo>
                  <a:pt x="138351" y="181087"/>
                  <a:pt x="134028" y="173599"/>
                  <a:pt x="127010" y="169548"/>
                </a:cubicBezTo>
                <a:cubicBezTo>
                  <a:pt x="119992" y="165496"/>
                  <a:pt x="111346" y="165496"/>
                  <a:pt x="104329" y="169548"/>
                </a:cubicBezTo>
                <a:cubicBezTo>
                  <a:pt x="97311" y="173599"/>
                  <a:pt x="92988" y="181087"/>
                  <a:pt x="92988" y="189190"/>
                </a:cubicBezTo>
                <a:close/>
                <a:moveTo>
                  <a:pt x="189190" y="166509"/>
                </a:moveTo>
                <a:cubicBezTo>
                  <a:pt x="181087" y="166509"/>
                  <a:pt x="173599" y="170832"/>
                  <a:pt x="169548" y="177850"/>
                </a:cubicBezTo>
                <a:cubicBezTo>
                  <a:pt x="165496" y="184867"/>
                  <a:pt x="165496" y="193513"/>
                  <a:pt x="169548" y="200531"/>
                </a:cubicBezTo>
                <a:cubicBezTo>
                  <a:pt x="173599" y="207549"/>
                  <a:pt x="181087" y="211872"/>
                  <a:pt x="189190" y="211872"/>
                </a:cubicBezTo>
                <a:cubicBezTo>
                  <a:pt x="197294" y="211872"/>
                  <a:pt x="204781" y="207549"/>
                  <a:pt x="208833" y="200531"/>
                </a:cubicBezTo>
                <a:cubicBezTo>
                  <a:pt x="212885" y="193513"/>
                  <a:pt x="212885" y="184867"/>
                  <a:pt x="208833" y="177850"/>
                </a:cubicBezTo>
                <a:cubicBezTo>
                  <a:pt x="204781" y="170832"/>
                  <a:pt x="197294" y="166509"/>
                  <a:pt x="189190" y="166509"/>
                </a:cubicBezTo>
                <a:close/>
                <a:moveTo>
                  <a:pt x="240447" y="189190"/>
                </a:moveTo>
                <a:cubicBezTo>
                  <a:pt x="240447" y="197294"/>
                  <a:pt x="244770" y="204781"/>
                  <a:pt x="251787" y="208833"/>
                </a:cubicBezTo>
                <a:cubicBezTo>
                  <a:pt x="258805" y="212885"/>
                  <a:pt x="267451" y="212885"/>
                  <a:pt x="274469" y="208833"/>
                </a:cubicBezTo>
                <a:cubicBezTo>
                  <a:pt x="281486" y="204781"/>
                  <a:pt x="285810" y="197294"/>
                  <a:pt x="285810" y="189190"/>
                </a:cubicBezTo>
                <a:cubicBezTo>
                  <a:pt x="285810" y="176672"/>
                  <a:pt x="275646" y="166509"/>
                  <a:pt x="263128" y="166509"/>
                </a:cubicBezTo>
                <a:cubicBezTo>
                  <a:pt x="250610" y="166509"/>
                  <a:pt x="240447" y="176672"/>
                  <a:pt x="240447" y="189190"/>
                </a:cubicBezTo>
                <a:close/>
                <a:moveTo>
                  <a:pt x="41731" y="240387"/>
                </a:moveTo>
                <a:cubicBezTo>
                  <a:pt x="33628" y="240387"/>
                  <a:pt x="26140" y="244710"/>
                  <a:pt x="22089" y="251728"/>
                </a:cubicBezTo>
                <a:cubicBezTo>
                  <a:pt x="18037" y="258746"/>
                  <a:pt x="18037" y="267392"/>
                  <a:pt x="22089" y="274409"/>
                </a:cubicBezTo>
                <a:cubicBezTo>
                  <a:pt x="26140" y="281427"/>
                  <a:pt x="33628" y="285750"/>
                  <a:pt x="41731" y="285750"/>
                </a:cubicBezTo>
                <a:cubicBezTo>
                  <a:pt x="49835" y="285750"/>
                  <a:pt x="57322" y="281427"/>
                  <a:pt x="61374" y="274409"/>
                </a:cubicBezTo>
                <a:cubicBezTo>
                  <a:pt x="65426" y="267392"/>
                  <a:pt x="65426" y="258746"/>
                  <a:pt x="61374" y="251728"/>
                </a:cubicBezTo>
                <a:cubicBezTo>
                  <a:pt x="57322" y="244710"/>
                  <a:pt x="49835" y="240387"/>
                  <a:pt x="41731" y="240387"/>
                </a:cubicBezTo>
                <a:close/>
                <a:moveTo>
                  <a:pt x="92988" y="263069"/>
                </a:moveTo>
                <a:cubicBezTo>
                  <a:pt x="92988" y="271172"/>
                  <a:pt x="97311" y="278660"/>
                  <a:pt x="104329" y="282711"/>
                </a:cubicBezTo>
                <a:cubicBezTo>
                  <a:pt x="111346" y="286763"/>
                  <a:pt x="119992" y="286763"/>
                  <a:pt x="127010" y="282711"/>
                </a:cubicBezTo>
                <a:cubicBezTo>
                  <a:pt x="134028" y="278660"/>
                  <a:pt x="138351" y="271172"/>
                  <a:pt x="138351" y="263069"/>
                </a:cubicBezTo>
                <a:cubicBezTo>
                  <a:pt x="138351" y="254965"/>
                  <a:pt x="134028" y="247478"/>
                  <a:pt x="127010" y="243426"/>
                </a:cubicBezTo>
                <a:cubicBezTo>
                  <a:pt x="119992" y="239374"/>
                  <a:pt x="111346" y="239374"/>
                  <a:pt x="104329" y="243426"/>
                </a:cubicBezTo>
                <a:cubicBezTo>
                  <a:pt x="97311" y="247478"/>
                  <a:pt x="92988" y="254965"/>
                  <a:pt x="92988" y="263069"/>
                </a:cubicBezTo>
                <a:close/>
                <a:moveTo>
                  <a:pt x="189190" y="240387"/>
                </a:moveTo>
                <a:cubicBezTo>
                  <a:pt x="181087" y="240387"/>
                  <a:pt x="173599" y="244710"/>
                  <a:pt x="169548" y="251728"/>
                </a:cubicBezTo>
                <a:cubicBezTo>
                  <a:pt x="165496" y="258746"/>
                  <a:pt x="165496" y="267392"/>
                  <a:pt x="169548" y="274409"/>
                </a:cubicBezTo>
                <a:cubicBezTo>
                  <a:pt x="173599" y="281427"/>
                  <a:pt x="181087" y="285750"/>
                  <a:pt x="189190" y="285750"/>
                </a:cubicBezTo>
                <a:cubicBezTo>
                  <a:pt x="197294" y="285750"/>
                  <a:pt x="204781" y="281427"/>
                  <a:pt x="208833" y="274409"/>
                </a:cubicBezTo>
                <a:cubicBezTo>
                  <a:pt x="212885" y="267392"/>
                  <a:pt x="212885" y="258746"/>
                  <a:pt x="208833" y="251728"/>
                </a:cubicBezTo>
                <a:cubicBezTo>
                  <a:pt x="204781" y="244710"/>
                  <a:pt x="197294" y="240387"/>
                  <a:pt x="189190" y="240387"/>
                </a:cubicBezTo>
                <a:close/>
                <a:moveTo>
                  <a:pt x="240447" y="263069"/>
                </a:moveTo>
                <a:cubicBezTo>
                  <a:pt x="240447" y="271172"/>
                  <a:pt x="244770" y="278660"/>
                  <a:pt x="251787" y="282711"/>
                </a:cubicBezTo>
                <a:cubicBezTo>
                  <a:pt x="258805" y="286763"/>
                  <a:pt x="267451" y="286763"/>
                  <a:pt x="274469" y="282711"/>
                </a:cubicBezTo>
                <a:cubicBezTo>
                  <a:pt x="281486" y="278660"/>
                  <a:pt x="285810" y="271172"/>
                  <a:pt x="285810" y="263069"/>
                </a:cubicBezTo>
                <a:cubicBezTo>
                  <a:pt x="285810" y="250550"/>
                  <a:pt x="275646" y="240387"/>
                  <a:pt x="263128" y="240387"/>
                </a:cubicBezTo>
                <a:cubicBezTo>
                  <a:pt x="250610" y="240387"/>
                  <a:pt x="240447" y="250550"/>
                  <a:pt x="240447" y="263069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7143750" y="2000250"/>
            <a:ext cx="40005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Poppins" panose="00000500000000000000" charset="0"/>
                <a:ea typeface="Poppins" panose="00000500000000000000" pitchFamily="34" charset="-122"/>
                <a:cs typeface="Poppins" panose="00000500000000000000" pitchFamily="34" charset="-120"/>
              </a:rPr>
              <a:t>Multi-Asset Expansion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7700" y="5905500"/>
            <a:ext cx="10896600" cy="5715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5953125"/>
            <a:ext cx="105156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Insight:</a:t>
            </a:r>
            <a:r>
              <a:rPr lang="en-US" sz="1500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altLang="zh-CN" sz="1200" dirty="0"/>
              <a:t>The lightweight training results have not significantly surpassed traditional models, but have laid the foundation and direction for complete DL training</a:t>
            </a:r>
            <a:endParaRPr lang="en-US" altLang="zh-CN" sz="1200" dirty="0"/>
          </a:p>
          <a:p>
            <a:pPr>
              <a:lnSpc>
                <a:spcPct val="100000"/>
              </a:lnSpc>
            </a:pPr>
            <a:endParaRPr lang="en-US" altLang="zh-CN" sz="1200" dirty="0"/>
          </a:p>
        </p:txBody>
      </p:sp>
      <p:sp>
        <p:nvSpPr>
          <p:cNvPr id="17" name="Shape 15"/>
          <p:cNvSpPr/>
          <p:nvPr/>
        </p:nvSpPr>
        <p:spPr>
          <a:xfrm>
            <a:off x="647700" y="6667500"/>
            <a:ext cx="10896600" cy="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none"/>
          </a:ln>
        </p:spPr>
      </p:sp>
      <p:sp>
        <p:nvSpPr>
          <p:cNvPr id="18" name="矩形 17"/>
          <p:cNvSpPr/>
          <p:nvPr/>
        </p:nvSpPr>
        <p:spPr>
          <a:xfrm>
            <a:off x="6569075" y="2557780"/>
            <a:ext cx="4414520" cy="2665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85750" lvl="0" indent="-285750" algn="l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65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Expand to SPY, QQQ, IWM three major index ETFs</a:t>
            </a:r>
            <a:endParaRPr lang="en-US" altLang="zh-CN" sz="1650" dirty="0">
              <a:solidFill>
                <a:srgbClr val="1E3A8A"/>
              </a:solidFill>
              <a:latin typeface="Inter" panose="02000503000000020004" charset="0"/>
              <a:ea typeface="Inter" panose="02000503000000020004" pitchFamily="34" charset="-122"/>
              <a:cs typeface="Inter" panose="02000503000000020004" pitchFamily="34" charset="-120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65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Increase sample size and feature dimensions</a:t>
            </a:r>
            <a:endParaRPr lang="en-US" altLang="zh-CN" sz="1650" dirty="0">
              <a:solidFill>
                <a:srgbClr val="1E3A8A"/>
              </a:solidFill>
              <a:latin typeface="Inter" panose="02000503000000020004" charset="0"/>
              <a:ea typeface="Inter" panose="02000503000000020004" pitchFamily="34" charset="-122"/>
              <a:cs typeface="Inter" panose="02000503000000020004" pitchFamily="34" charset="-120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65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Attempt to predict and construct strategies at the level of asset portfolio</a:t>
            </a:r>
            <a:endParaRPr lang="en-US" altLang="zh-CN" sz="1650" dirty="0">
              <a:solidFill>
                <a:srgbClr val="1E3A8A"/>
              </a:solidFill>
              <a:latin typeface="Inter" panose="02000503000000020004" charset="0"/>
              <a:ea typeface="Inter" panose="02000503000000020004" pitchFamily="34" charset="-122"/>
              <a:cs typeface="Inter" panose="02000503000000020004" pitchFamily="34" charset="-120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65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Accumulate experimental foundation for complete DL training</a:t>
            </a:r>
            <a:endParaRPr lang="en-US" altLang="zh-CN" sz="1650" dirty="0">
              <a:solidFill>
                <a:srgbClr val="1E3A8A"/>
              </a:solidFill>
              <a:latin typeface="Inter" panose="02000503000000020004" charset="0"/>
              <a:ea typeface="Inter" panose="02000503000000020004" pitchFamily="34" charset="-122"/>
              <a:cs typeface="Inter" panose="02000503000000020004" pitchFamily="34" charset="-120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endParaRPr lang="en-US" altLang="zh-CN" sz="1650" dirty="0">
              <a:solidFill>
                <a:srgbClr val="1E3A8A"/>
              </a:solidFill>
              <a:latin typeface="Inter" panose="02000503000000020004" charset="0"/>
              <a:ea typeface="Inter" panose="02000503000000020004" pitchFamily="34" charset="-122"/>
              <a:cs typeface="Inter" panose="020005030000000200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700" y="619125"/>
            <a:ext cx="114300" cy="61912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904875" y="619125"/>
            <a:ext cx="3810000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kern="0" spc="100" dirty="0">
                <a:solidFill>
                  <a:srgbClr val="F9731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SECTION 5: EXTENSION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04875" y="952500"/>
            <a:ext cx="10477500" cy="5238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F172A"/>
                </a:solidFill>
                <a:latin typeface="Poppins" panose="00000500000000000000" charset="0"/>
                <a:ea typeface="Poppins" panose="00000500000000000000" pitchFamily="34" charset="-122"/>
                <a:cs typeface="Poppins" panose="00000500000000000000" pitchFamily="34" charset="-120"/>
              </a:rPr>
              <a:t>Model Comparison: Information Coefficient (IC)</a:t>
            </a:r>
            <a:endParaRPr lang="en-US" sz="1200" dirty="0"/>
          </a:p>
        </p:txBody>
      </p:sp>
      <p:pic>
        <p:nvPicPr>
          <p:cNvPr id="5" name="Image 0" descr="https://kimi-img.moonshot.cn/pub/slides/okc/3nmhstcfuogeg/mnt/agents/output/dl_extension/images/model_ic_comparison.png"/>
          <p:cNvPicPr>
            <a:picLocks noChangeAspect="1"/>
          </p:cNvPicPr>
          <p:nvPr/>
        </p:nvPicPr>
        <p:blipFill>
          <a:blip r:embed="rId1"/>
          <a:srcRect t="-1414" b="-1414"/>
          <a:stretch>
            <a:fillRect/>
          </a:stretch>
        </p:blipFill>
        <p:spPr>
          <a:xfrm>
            <a:off x="647700" y="1666875"/>
            <a:ext cx="7143750" cy="4000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81950" y="1666875"/>
            <a:ext cx="3562350" cy="400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72450" y="1857375"/>
            <a:ext cx="3181350" cy="3333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50" b="1" dirty="0">
                <a:solidFill>
                  <a:srgbClr val="0F172A"/>
                </a:solidFill>
                <a:latin typeface="Poppins" panose="00000500000000000000" charset="0"/>
                <a:ea typeface="Poppins" panose="00000500000000000000" pitchFamily="34" charset="-122"/>
                <a:cs typeface="Poppins" panose="00000500000000000000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72450" y="2333625"/>
            <a:ext cx="3181350" cy="323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25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▸</a:t>
            </a:r>
            <a:r>
              <a:rPr lang="en-US" sz="1425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sz="1425" b="1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CatBoost</a:t>
            </a:r>
            <a:r>
              <a:rPr lang="en-US" sz="1425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leads with IC=0.0043</a:t>
            </a:r>
            <a:endParaRPr lang="en-US" sz="1200" dirty="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425" dirty="0">
                <a:solidFill>
                  <a:srgbClr val="8B5C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▸</a:t>
            </a:r>
            <a:r>
              <a:rPr lang="en-US" sz="1425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sz="1425" b="1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LSTM</a:t>
            </a:r>
            <a:r>
              <a:rPr lang="en-US" sz="1425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IC=0.0042, nearly on par</a:t>
            </a:r>
            <a:endParaRPr lang="en-US" sz="1200" dirty="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425" dirty="0">
                <a:solidFill>
                  <a:srgbClr val="F9731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▸</a:t>
            </a:r>
            <a:r>
              <a:rPr lang="en-US" sz="1425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sz="1425" b="1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TFT</a:t>
            </a:r>
            <a:r>
              <a:rPr lang="en-US" sz="1425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IC=0.0040, slightly behind</a:t>
            </a:r>
            <a:endParaRPr lang="en-US" sz="1200" dirty="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425" dirty="0">
                <a:solidFill>
                  <a:srgbClr val="EF4444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▸</a:t>
            </a:r>
            <a:r>
              <a:rPr lang="en-US" sz="1425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sz="1425" b="1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GradientBoosting</a:t>
            </a:r>
            <a:r>
              <a:rPr lang="en-US" sz="1425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worst at -0.027</a:t>
            </a:r>
            <a:endParaRPr lang="en-US" sz="1200" dirty="0"/>
          </a:p>
          <a:p>
            <a:pPr>
              <a:lnSpc>
                <a:spcPct val="145000"/>
              </a:lnSpc>
              <a:spcBef>
                <a:spcPts val="1200"/>
              </a:spcBef>
            </a:pPr>
            <a:r>
              <a:rPr lang="en-US" sz="1275" dirty="0">
                <a:solidFill>
                  <a:srgbClr val="334155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All IC values remain near zero — the noise wall persists even with expanded samples.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7700" y="5810250"/>
            <a:ext cx="10896600" cy="5715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8200" y="5810250"/>
            <a:ext cx="105156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Insight:</a:t>
            </a:r>
            <a:r>
              <a:rPr lang="en-US" sz="1500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altLang="zh-CN" sz="1200" dirty="0"/>
              <a:t>The IC mean of LSTM and TFT is close to that of traditional ML models, but they have not yet demonstrated significant advantages of deep learning</a:t>
            </a:r>
            <a:endParaRPr lang="en-US" altLang="zh-CN" sz="1200" dirty="0"/>
          </a:p>
        </p:txBody>
      </p:sp>
      <p:sp>
        <p:nvSpPr>
          <p:cNvPr id="11" name="Shape 8"/>
          <p:cNvSpPr/>
          <p:nvPr/>
        </p:nvSpPr>
        <p:spPr>
          <a:xfrm>
            <a:off x="647700" y="6667500"/>
            <a:ext cx="10896600" cy="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700" y="619125"/>
            <a:ext cx="114300" cy="61912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904875" y="619125"/>
            <a:ext cx="3810000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kern="0" spc="100" dirty="0">
                <a:solidFill>
                  <a:srgbClr val="F9731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SECTION 5: EXTENSION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04875" y="952500"/>
            <a:ext cx="10477500" cy="5238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F172A"/>
                </a:solidFill>
                <a:latin typeface="Poppins" panose="00000500000000000000" charset="0"/>
                <a:ea typeface="Poppins" panose="00000500000000000000" pitchFamily="34" charset="-122"/>
                <a:cs typeface="Poppins" panose="00000500000000000000" pitchFamily="34" charset="-120"/>
              </a:rPr>
              <a:t>Regime-Conditional IC: LSTM &amp; TFT Deep Dive</a:t>
            </a:r>
            <a:endParaRPr lang="en-US" sz="1200" dirty="0"/>
          </a:p>
        </p:txBody>
      </p:sp>
      <p:pic>
        <p:nvPicPr>
          <p:cNvPr id="5" name="Image 0" descr="https://kimi-img.moonshot.cn/pub/slides/okc/3nmhstcfuogeg/mnt/agents/output/dl_extension/images/regime_ic_comparison.png"/>
          <p:cNvPicPr>
            <a:picLocks noChangeAspect="1"/>
          </p:cNvPicPr>
          <p:nvPr/>
        </p:nvPicPr>
        <p:blipFill>
          <a:blip r:embed="rId1"/>
          <a:srcRect t="-5822" b="-5822"/>
          <a:stretch>
            <a:fillRect/>
          </a:stretch>
        </p:blipFill>
        <p:spPr>
          <a:xfrm>
            <a:off x="647700" y="1666875"/>
            <a:ext cx="6667500" cy="4000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05700" y="1666875"/>
            <a:ext cx="4038600" cy="400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96200" y="1857375"/>
            <a:ext cx="3657600" cy="3333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50" b="1" dirty="0">
                <a:solidFill>
                  <a:srgbClr val="0F172A"/>
                </a:solidFill>
                <a:latin typeface="Poppins" panose="00000500000000000000" charset="0"/>
                <a:ea typeface="Poppins" panose="00000500000000000000" pitchFamily="34" charset="-122"/>
                <a:cs typeface="Poppins" panose="00000500000000000000" pitchFamily="34" charset="-120"/>
              </a:rPr>
              <a:t>Regime Breakdown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96200" y="2333625"/>
            <a:ext cx="3657600" cy="304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spcBef>
                <a:spcPts val="1600"/>
              </a:spcBef>
            </a:pP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7700" y="5810250"/>
            <a:ext cx="10896600" cy="5715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8200" y="5810250"/>
            <a:ext cx="105156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Insight:</a:t>
            </a:r>
            <a:r>
              <a:rPr lang="en-US" sz="1500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altLang="zh-CN" sz="1200" dirty="0"/>
              <a:t>Regime 2 is significantly better than other models, suggesting that deep learning may capture nonlinear patterns in high volatility environments</a:t>
            </a:r>
            <a:endParaRPr lang="en-US" altLang="zh-CN" sz="1200" dirty="0"/>
          </a:p>
        </p:txBody>
      </p:sp>
      <p:sp>
        <p:nvSpPr>
          <p:cNvPr id="11" name="Shape 8"/>
          <p:cNvSpPr/>
          <p:nvPr/>
        </p:nvSpPr>
        <p:spPr>
          <a:xfrm>
            <a:off x="647700" y="6667500"/>
            <a:ext cx="10896600" cy="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none"/>
          </a:ln>
        </p:spPr>
      </p:sp>
      <p:sp>
        <p:nvSpPr>
          <p:cNvPr id="12" name="文本框 11"/>
          <p:cNvSpPr txBox="1"/>
          <p:nvPr/>
        </p:nvSpPr>
        <p:spPr>
          <a:xfrm>
            <a:off x="7807325" y="2408555"/>
            <a:ext cx="3328670" cy="24218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Regime 2 (Crisis): LSTM is the best (IC=0.026), followed by TFT (IC=0.021)</a:t>
            </a:r>
            <a:endParaRPr lang="en-US" altLang="zh-CN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Regime 0/1: All DL models have negative ICs, making direction determination difficult</a:t>
            </a:r>
            <a:endParaRPr lang="en-US" altLang="zh-CN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The DL model demonstrates relative advantages in crisis regimes</a:t>
            </a:r>
            <a:endParaRPr lang="en-US" altLang="zh-CN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Possible correlation with volatility clustering effect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700" y="619125"/>
            <a:ext cx="114300" cy="61912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904875" y="619125"/>
            <a:ext cx="3810000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kern="0" spc="100" dirty="0">
                <a:solidFill>
                  <a:srgbClr val="F9731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SECTION 5: EXTENSION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04875" y="952500"/>
            <a:ext cx="10477500" cy="5238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F172A"/>
                </a:solidFill>
                <a:latin typeface="Poppins" panose="00000500000000000000" charset="0"/>
                <a:ea typeface="Poppins" panose="00000500000000000000" pitchFamily="34" charset="-122"/>
                <a:cs typeface="Poppins" panose="00000500000000000000" pitchFamily="34" charset="-120"/>
              </a:rPr>
              <a:t>Unconditional Strategy Performance (Sharpe Ratio)</a:t>
            </a:r>
            <a:endParaRPr lang="en-US" sz="1200" dirty="0"/>
          </a:p>
        </p:txBody>
      </p:sp>
      <p:pic>
        <p:nvPicPr>
          <p:cNvPr id="5" name="Image 0" descr="https://kimi-img.moonshot.cn/pub/slides/okc/3nmhstcfuogeg/mnt/agents/output/dl_extension/images/unconditional_sharpe.png"/>
          <p:cNvPicPr>
            <a:picLocks noChangeAspect="1"/>
          </p:cNvPicPr>
          <p:nvPr/>
        </p:nvPicPr>
        <p:blipFill>
          <a:blip r:embed="rId1"/>
          <a:srcRect l="-17898" r="-17898"/>
          <a:stretch>
            <a:fillRect/>
          </a:stretch>
        </p:blipFill>
        <p:spPr>
          <a:xfrm>
            <a:off x="647700" y="1666875"/>
            <a:ext cx="10896600" cy="3810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7700" y="5619750"/>
            <a:ext cx="10896600" cy="762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8200" y="5619750"/>
            <a:ext cx="105156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Insight:</a:t>
            </a:r>
            <a:r>
              <a:rPr lang="en-US" sz="1500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altLang="zh-CN" sz="1200" dirty="0"/>
              <a:t>All models unconditionally have negative Sharpe, indicating that relying solely on predicted signals to construct strategies is difficult to profit in the current sample.</a:t>
            </a:r>
            <a:endParaRPr lang="en-US" altLang="zh-CN" sz="1200" dirty="0"/>
          </a:p>
        </p:txBody>
      </p:sp>
      <p:sp>
        <p:nvSpPr>
          <p:cNvPr id="8" name="Shape 5"/>
          <p:cNvSpPr/>
          <p:nvPr/>
        </p:nvSpPr>
        <p:spPr>
          <a:xfrm>
            <a:off x="647700" y="6667500"/>
            <a:ext cx="10896600" cy="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700" y="619125"/>
            <a:ext cx="114300" cy="61912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904875" y="619125"/>
            <a:ext cx="3810000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kern="0" spc="100" dirty="0">
                <a:solidFill>
                  <a:srgbClr val="F9731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SECTION 5: EXTENSION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04875" y="952500"/>
            <a:ext cx="10477500" cy="5238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F172A"/>
                </a:solidFill>
                <a:latin typeface="Poppins" panose="00000500000000000000" charset="0"/>
                <a:ea typeface="Poppins" panose="00000500000000000000" pitchFamily="34" charset="-122"/>
                <a:cs typeface="Poppins" panose="00000500000000000000" pitchFamily="34" charset="-120"/>
              </a:rPr>
              <a:t>Regime-Conditional Strategy Performance (Sharpe)</a:t>
            </a:r>
            <a:endParaRPr lang="en-US" sz="1200" dirty="0"/>
          </a:p>
        </p:txBody>
      </p:sp>
      <p:pic>
        <p:nvPicPr>
          <p:cNvPr id="5" name="Image 0" descr="https://kimi-img.moonshot.cn/pub/slides/okc/3nmhstcfuogeg/mnt/agents/output/dl_extension/images/regime_sharpe.png"/>
          <p:cNvPicPr>
            <a:picLocks noChangeAspect="1"/>
          </p:cNvPicPr>
          <p:nvPr/>
        </p:nvPicPr>
        <p:blipFill>
          <a:blip r:embed="rId1"/>
          <a:srcRect l="-17898" r="-17898"/>
          <a:stretch>
            <a:fillRect/>
          </a:stretch>
        </p:blipFill>
        <p:spPr>
          <a:xfrm>
            <a:off x="647700" y="1666875"/>
            <a:ext cx="10896600" cy="3810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7700" y="5619750"/>
            <a:ext cx="10896600" cy="762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8200" y="5723255"/>
            <a:ext cx="105156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Insight:</a:t>
            </a:r>
            <a:r>
              <a:rPr lang="en-US" sz="1600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altLang="zh-CN" dirty="0"/>
              <a:t>After introducing the Regime condition, TFT and HAR-RV performed relatively well, but all models still had negative Sharpe - sample selection or transaction costs may be key factors</a:t>
            </a:r>
            <a:endParaRPr lang="en-US" altLang="zh-CN" dirty="0"/>
          </a:p>
          <a:p>
            <a:pPr>
              <a:lnSpc>
                <a:spcPct val="140000"/>
              </a:lnSpc>
            </a:pPr>
            <a:endParaRPr lang="en-US" altLang="zh-CN" dirty="0"/>
          </a:p>
        </p:txBody>
      </p:sp>
      <p:sp>
        <p:nvSpPr>
          <p:cNvPr id="8" name="Shape 5"/>
          <p:cNvSpPr/>
          <p:nvPr/>
        </p:nvSpPr>
        <p:spPr>
          <a:xfrm>
            <a:off x="647700" y="6667500"/>
            <a:ext cx="10896600" cy="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700" y="619125"/>
            <a:ext cx="114300" cy="61912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904875" y="619125"/>
            <a:ext cx="3810000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kern="0" spc="100" dirty="0">
                <a:solidFill>
                  <a:srgbClr val="F9731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SECTION 5: EXTENSION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04875" y="952500"/>
            <a:ext cx="10477500" cy="5238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F172A"/>
                </a:solidFill>
                <a:latin typeface="Poppins" panose="00000500000000000000" charset="0"/>
                <a:ea typeface="Poppins" panose="00000500000000000000" pitchFamily="34" charset="-122"/>
                <a:cs typeface="Poppins" panose="00000500000000000000" pitchFamily="34" charset="-120"/>
              </a:rPr>
              <a:t>Key Findings: Why Results Are Not Yet Significant</a:t>
            </a:r>
            <a:endParaRPr lang="en-US" sz="12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647700" y="1714500"/>
            <a:ext cx="3429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952500" y="2000250"/>
            <a:ext cx="457200" cy="457200"/>
          </a:xfrm>
          <a:prstGeom prst="ellipse">
            <a:avLst/>
          </a:prstGeom>
          <a:solidFill>
            <a:srgbClr val="DBEAFE"/>
          </a:solidFill>
        </p:spPr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1081088" y="21145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571625" y="2000250"/>
            <a:ext cx="228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50" b="1" dirty="0">
                <a:solidFill>
                  <a:srgbClr val="0F172A"/>
                </a:solidFill>
                <a:latin typeface="Poppins" panose="00000500000000000000" charset="0"/>
                <a:ea typeface="Poppins" panose="00000500000000000000" pitchFamily="34" charset="-122"/>
                <a:cs typeface="Poppins" panose="00000500000000000000" pitchFamily="34" charset="-120"/>
              </a:rPr>
              <a:t>Sample Issues</a:t>
            </a:r>
            <a:endParaRPr lang="en-US" sz="12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952500" y="2667000"/>
            <a:ext cx="2857500" cy="2571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●</a:t>
            </a:r>
            <a:r>
              <a:rPr lang="en-US" sz="150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altLang="zh-CN" sz="1600" dirty="0"/>
              <a:t>The training window is relatively short (2020–2021).</a:t>
            </a:r>
            <a:endParaRPr lang="en-US" altLang="zh-CN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●</a:t>
            </a:r>
            <a:r>
              <a:rPr lang="en-US" sz="150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altLang="zh-CN" sz="1600" dirty="0"/>
              <a:t>only three ETFs, the asset coverage is insufficient.</a:t>
            </a:r>
            <a:endParaRPr lang="en-US" altLang="zh-CN" sz="12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●</a:t>
            </a:r>
            <a:r>
              <a:rPr lang="en-US" sz="150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Regime </a:t>
            </a:r>
            <a:r>
              <a:rPr lang="en-US" altLang="zh-CN" sz="150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uneven distribution</a:t>
            </a:r>
            <a:endParaRPr lang="en-US" altLang="zh-CN" sz="1500" dirty="0">
              <a:solidFill>
                <a:srgbClr val="1E3A8A"/>
              </a:solidFill>
              <a:latin typeface="Inter" panose="02000503000000020004" charset="0"/>
              <a:ea typeface="Inter" panose="02000503000000020004" pitchFamily="34" charset="-122"/>
              <a:cs typeface="Inter" panose="02000503000000020004" pitchFamily="34" charset="-120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endParaRPr lang="en-US" sz="1200" dirty="0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4267200" y="1714500"/>
            <a:ext cx="3429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4572000" y="2000250"/>
            <a:ext cx="457200" cy="457200"/>
          </a:xfrm>
          <a:prstGeom prst="ellipse">
            <a:avLst/>
          </a:prstGeom>
          <a:solidFill>
            <a:srgbClr val="EDE9FE"/>
          </a:solidFill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4686300" y="2114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8B5CF6"/>
          </a:solidFill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5191125" y="2000250"/>
            <a:ext cx="228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50" b="1" dirty="0">
                <a:solidFill>
                  <a:srgbClr val="0F172A"/>
                </a:solidFill>
                <a:latin typeface="Poppins" panose="00000500000000000000" charset="0"/>
                <a:ea typeface="Poppins" panose="00000500000000000000" pitchFamily="34" charset="-122"/>
                <a:cs typeface="Poppins" panose="00000500000000000000" pitchFamily="34" charset="-120"/>
              </a:rPr>
              <a:t>Lightweight Training</a:t>
            </a:r>
            <a:endParaRPr lang="en-US" sz="12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4572000" y="2667000"/>
            <a:ext cx="2857500" cy="2571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B5C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●</a:t>
            </a:r>
            <a:r>
              <a:rPr lang="en-US" sz="150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LSTM hidden=32, 1 layer</a:t>
            </a:r>
            <a:endParaRPr lang="en-US" sz="12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8B5C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●</a:t>
            </a:r>
            <a:r>
              <a:rPr lang="en-US" sz="150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TFT heads=2, under-trained</a:t>
            </a:r>
            <a:endParaRPr lang="en-US" sz="12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8B5C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●</a:t>
            </a:r>
            <a:r>
              <a:rPr lang="en-US" sz="150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 128 hidden, 4 heads</a:t>
            </a:r>
            <a:endParaRPr lang="en-US" sz="12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1200" dirty="0"/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7886700" y="1714500"/>
            <a:ext cx="36576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8191500" y="2000250"/>
            <a:ext cx="457200" cy="457200"/>
          </a:xfrm>
          <a:prstGeom prst="ellipse">
            <a:avLst/>
          </a:prstGeom>
          <a:solidFill>
            <a:srgbClr val="FFEDD5"/>
          </a:solidFill>
        </p:spPr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8305800" y="2114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F97316"/>
          </a:solidFill>
        </p:spPr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8810625" y="2000250"/>
            <a:ext cx="24765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50" b="1" dirty="0">
                <a:solidFill>
                  <a:srgbClr val="0F172A"/>
                </a:solidFill>
                <a:latin typeface="Poppins" panose="00000500000000000000" charset="0"/>
                <a:ea typeface="Poppins" panose="00000500000000000000" pitchFamily="34" charset="-122"/>
                <a:cs typeface="Poppins" panose="00000500000000000000" pitchFamily="34" charset="-120"/>
              </a:rPr>
              <a:t>Market Structure</a:t>
            </a:r>
            <a:endParaRPr lang="en-US" sz="1200" dirty="0"/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8191500" y="2667000"/>
            <a:ext cx="3086100" cy="2571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9731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●</a:t>
            </a:r>
            <a:r>
              <a:rPr lang="en-US" sz="160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altLang="zh-CN" dirty="0"/>
              <a:t>The daily return signal-to-noise ratio is extremely low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9731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●</a:t>
            </a:r>
            <a:r>
              <a:rPr lang="en-US" sz="160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altLang="zh-CN" dirty="0"/>
              <a:t>High correlation between multiple assets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9731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●</a:t>
            </a:r>
            <a:r>
              <a:rPr lang="en-US" sz="160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altLang="zh-CN" dirty="0"/>
              <a:t> Limited decentralization effect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9731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●</a:t>
            </a:r>
            <a:r>
              <a:rPr lang="en-US" sz="1600" dirty="0">
                <a:solidFill>
                  <a:srgbClr val="1E3A8A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altLang="zh-CN" dirty="0"/>
              <a:t>Transaction costs not fully accounted for</a:t>
            </a:r>
            <a:endParaRPr lang="en-US" altLang="zh-CN" dirty="0"/>
          </a:p>
        </p:txBody>
      </p:sp>
      <p:sp>
        <p:nvSpPr>
          <p:cNvPr id="20" name="Shape 18"/>
          <p:cNvSpPr/>
          <p:nvPr/>
        </p:nvSpPr>
        <p:spPr>
          <a:xfrm>
            <a:off x="647700" y="5715000"/>
            <a:ext cx="10896600" cy="66675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1525" y="5762625"/>
            <a:ext cx="10515600" cy="666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Core Reflection:</a:t>
            </a:r>
            <a:r>
              <a:rPr lang="en-US" sz="1600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altLang="zh-CN" dirty="0"/>
              <a:t>The result is not significant ≠ deep learning is invalid. The current configuration is more like a 'proof of concept' rather than a 'capability cap test'</a:t>
            </a:r>
            <a:endParaRPr lang="en-US" altLang="zh-CN" dirty="0"/>
          </a:p>
          <a:p>
            <a:pPr>
              <a:lnSpc>
                <a:spcPct val="140000"/>
              </a:lnSpc>
            </a:pPr>
            <a:endParaRPr lang="en-US" altLang="zh-CN" dirty="0"/>
          </a:p>
        </p:txBody>
      </p:sp>
      <p:sp>
        <p:nvSpPr>
          <p:cNvPr id="22" name="Shape 20"/>
          <p:cNvSpPr/>
          <p:nvPr/>
        </p:nvSpPr>
        <p:spPr>
          <a:xfrm>
            <a:off x="647700" y="6667500"/>
            <a:ext cx="10896600" cy="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700" y="619125"/>
            <a:ext cx="114300" cy="61912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904875" y="619125"/>
            <a:ext cx="3810000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kern="0" spc="100" dirty="0">
                <a:solidFill>
                  <a:srgbClr val="F9731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SECTION 5: EXTENSION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04875" y="952500"/>
            <a:ext cx="10477500" cy="5238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F172A"/>
                </a:solidFill>
                <a:latin typeface="Poppins" panose="00000500000000000000" charset="0"/>
                <a:ea typeface="Poppins" panose="00000500000000000000" pitchFamily="34" charset="-122"/>
                <a:cs typeface="Poppins" panose="00000500000000000000" pitchFamily="34" charset="-120"/>
              </a:rPr>
              <a:t>Future Work: Toward Full LSTM &amp; TFT Training</a:t>
            </a:r>
            <a:endParaRPr lang="en-US" sz="12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647700" y="1714500"/>
            <a:ext cx="5286375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952500" y="2000250"/>
            <a:ext cx="457200" cy="457200"/>
          </a:xfrm>
          <a:prstGeom prst="ellipse">
            <a:avLst/>
          </a:prstGeom>
          <a:solidFill>
            <a:srgbClr val="D1FAE5"/>
          </a:solidFill>
        </p:spPr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1066800" y="2114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571625" y="2000250"/>
            <a:ext cx="40005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Poppins" panose="00000500000000000000" charset="0"/>
                <a:ea typeface="Poppins" panose="00000500000000000000" pitchFamily="34" charset="-122"/>
                <a:cs typeface="Poppins" panose="00000500000000000000" pitchFamily="34" charset="-120"/>
              </a:rPr>
              <a:t>Immediate Next Steps</a:t>
            </a:r>
            <a:endParaRPr lang="en-US" sz="12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952500" y="2578100"/>
            <a:ext cx="4667250" cy="2809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sym typeface="+mn-ea"/>
              </a:rPr>
              <a:t>● </a:t>
            </a:r>
            <a:r>
              <a:rPr lang="en-US" altLang="zh-CN" sz="1600" dirty="0"/>
              <a:t>Extend the training window to 2015-2024 (10-year data)</a:t>
            </a:r>
            <a:endParaRPr lang="en-US" altLang="zh-CN" sz="1600" dirty="0"/>
          </a:p>
          <a:p>
            <a:pPr>
              <a:lnSpc>
                <a:spcPct val="130000"/>
              </a:lnSpc>
            </a:pPr>
            <a:r>
              <a:rPr lang="en-US" altLang="zh-CN" sz="1600" dirty="0"/>
              <a:t>● Increase asset coverage (industry ETFs, international indices)</a:t>
            </a:r>
            <a:endParaRPr lang="en-US" altLang="zh-CN" sz="1600" dirty="0"/>
          </a:p>
          <a:p>
            <a:pPr>
              <a:lnSpc>
                <a:spcPct val="130000"/>
              </a:lnSpc>
            </a:pPr>
            <a:r>
              <a:rPr lang="en-US" altLang="zh-CN" sz="1600" dirty="0"/>
              <a:t>● LSTM: 128 hidden units + 2 layers</a:t>
            </a:r>
            <a:endParaRPr lang="en-US" altLang="zh-CN" sz="1600" dirty="0"/>
          </a:p>
          <a:p>
            <a:pPr>
              <a:lnSpc>
                <a:spcPct val="130000"/>
              </a:lnSpc>
            </a:pPr>
            <a:r>
              <a:rPr lang="en-US" altLang="zh-CN" sz="1600" dirty="0"/>
              <a:t>● TFT: 128 hidden + 4 heads + 8 attention steps</a:t>
            </a:r>
            <a:endParaRPr lang="en-US" altLang="zh-CN" sz="1600" dirty="0"/>
          </a:p>
          <a:p>
            <a:pPr>
              <a:lnSpc>
                <a:spcPct val="130000"/>
              </a:lnSpc>
            </a:pPr>
            <a:r>
              <a:rPr lang="en-US" altLang="zh-CN" sz="1600" dirty="0"/>
              <a:t>● More comprehensive training epochs and early stopping mechanism</a:t>
            </a:r>
            <a:endParaRPr lang="en-US" altLang="zh-CN" sz="1600" dirty="0"/>
          </a:p>
          <a:p>
            <a:pPr>
              <a:lnSpc>
                <a:spcPct val="130000"/>
              </a:lnSpc>
            </a:pPr>
            <a:endParaRPr lang="en-US" altLang="zh-CN" sz="1600" dirty="0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6219825" y="1714500"/>
            <a:ext cx="5286375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6524625" y="2000250"/>
            <a:ext cx="457200" cy="457200"/>
          </a:xfrm>
          <a:prstGeom prst="ellipse">
            <a:avLst/>
          </a:prstGeom>
          <a:solidFill>
            <a:srgbClr val="DBEAFE"/>
          </a:solidFill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6638925" y="2114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04800" h="304800"/>
            </a:pathLst>
          </a:custGeom>
          <a:solidFill>
            <a:srgbClr val="3B82F6"/>
          </a:solidFill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7143750" y="2000250"/>
            <a:ext cx="40005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Poppins" panose="00000500000000000000" charset="0"/>
                <a:ea typeface="Poppins" panose="00000500000000000000" pitchFamily="34" charset="-122"/>
                <a:cs typeface="Poppins" panose="00000500000000000000" pitchFamily="34" charset="-120"/>
              </a:rPr>
              <a:t>Long-term Exploration</a:t>
            </a:r>
            <a:endParaRPr lang="en-US" sz="12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6524625" y="2667000"/>
            <a:ext cx="4857750" cy="2571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● </a:t>
            </a:r>
            <a:r>
              <a:rPr lang="en-US" altLang="zh-CN" sz="1600" dirty="0"/>
              <a:t>Introducing Multi Task Learning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● Try Transformer architecture (Informer, Autoformer)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● </a:t>
            </a:r>
            <a:r>
              <a:rPr lang="en-US" altLang="zh-CN" sz="1600" dirty="0"/>
              <a:t>Combining HMM Regime signal with DL prediction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>
                <a:sym typeface="+mn-ea"/>
              </a:rPr>
              <a:t>● </a:t>
            </a:r>
            <a:r>
              <a:rPr lang="en-US" altLang="zh-CN" sz="1600" dirty="0"/>
              <a:t>Exploring the interpretability of attention mechanisms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● Build a hybrid strategy framework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endParaRPr lang="en-US" altLang="zh-CN" sz="1600" dirty="0"/>
          </a:p>
        </p:txBody>
      </p:sp>
      <p:sp>
        <p:nvSpPr>
          <p:cNvPr id="15" name="Shape 13"/>
          <p:cNvSpPr/>
          <p:nvPr/>
        </p:nvSpPr>
        <p:spPr>
          <a:xfrm>
            <a:off x="647700" y="5715000"/>
            <a:ext cx="10896600" cy="66675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200" y="5762625"/>
            <a:ext cx="10515600" cy="666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Commitment:</a:t>
            </a:r>
            <a:r>
              <a:rPr lang="en-US" sz="1800" dirty="0">
                <a:solidFill>
                  <a:srgbClr val="3B82F6"/>
                </a:solidFill>
                <a:latin typeface="Inter" panose="0200050300000002000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altLang="zh-CN" sz="1600" dirty="0"/>
              <a:t>We will continue to wait for the complete training results - the potential of deep learning in volatility trading is worth exploring more fully</a:t>
            </a:r>
            <a:endParaRPr lang="en-US" altLang="zh-CN" sz="1600" dirty="0"/>
          </a:p>
          <a:p>
            <a:pPr>
              <a:lnSpc>
                <a:spcPct val="140000"/>
              </a:lnSpc>
            </a:pPr>
            <a:endParaRPr lang="en-US" altLang="zh-CN" sz="1600" dirty="0"/>
          </a:p>
        </p:txBody>
      </p:sp>
      <p:sp>
        <p:nvSpPr>
          <p:cNvPr id="17" name="Shape 15"/>
          <p:cNvSpPr/>
          <p:nvPr/>
        </p:nvSpPr>
        <p:spPr>
          <a:xfrm>
            <a:off x="647700" y="6667500"/>
            <a:ext cx="10896600" cy="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"/>
          <p:cNvSpPr txBox="1"/>
          <p:nvPr/>
        </p:nvSpPr>
        <p:spPr>
          <a:xfrm>
            <a:off x="495300" y="2047875"/>
            <a:ext cx="11201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Thank You!</a:t>
            </a:r>
            <a:endParaRPr lang="en-US" sz="6000" b="1" i="0" u="none" strike="noStrike" cap="none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15" name="Google Shape;315;p29"/>
          <p:cNvSpPr txBox="1"/>
          <p:nvPr/>
        </p:nvSpPr>
        <p:spPr>
          <a:xfrm>
            <a:off x="762000" y="3381375"/>
            <a:ext cx="10668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Questions? Group 8 invites your feedback.</a:t>
            </a:r>
            <a:endParaRPr lang="en-US" sz="210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16" name="Google Shape;316;p29"/>
          <p:cNvSpPr txBox="1"/>
          <p:nvPr/>
        </p:nvSpPr>
        <p:spPr>
          <a:xfrm>
            <a:off x="762000" y="4619625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97316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Volatility Trading Strategy Study | 2026</a:t>
            </a:r>
            <a:endParaRPr lang="en-US" sz="1200" b="0" i="0" u="none" strike="noStrike" cap="none">
              <a:solidFill>
                <a:srgbClr val="F97316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1.99999999999994,&quot;left&quot;:522,&quot;top&quot;:253.12496062992128,&quot;width&quot;:378}"/>
</p:tagLst>
</file>

<file path=ppt/tags/tag2.xml><?xml version="1.0" encoding="utf-8"?>
<p:tagLst xmlns:p="http://schemas.openxmlformats.org/presentationml/2006/main">
  <p:tag name="KSO_WM_DIAGRAM_VIRTUALLY_FRAME" val="{&quot;height&quot;:161.99999999999994,&quot;left&quot;:522,&quot;top&quot;:253.12496062992128,&quot;width&quot;:378}"/>
</p:tagLst>
</file>

<file path=ppt/tags/tag3.xml><?xml version="1.0" encoding="utf-8"?>
<p:tagLst xmlns:p="http://schemas.openxmlformats.org/presentationml/2006/main">
  <p:tag name="KSO_WM_DIAGRAM_VIRTUALLY_FRAME" val="{&quot;height&quot;:161.99999999999994,&quot;left&quot;:522,&quot;top&quot;:253.12496062992128,&quot;width&quot;:378}"/>
</p:tagLst>
</file>

<file path=ppt/tags/tag4.xml><?xml version="1.0" encoding="utf-8"?>
<p:tagLst xmlns:p="http://schemas.openxmlformats.org/presentationml/2006/main">
  <p:tag name="KSO_WM_DIAGRAM_VIRTUALLY_FRAME" val="{&quot;height&quot;:161.99999999999994,&quot;left&quot;:522,&quot;top&quot;:253.12496062992128,&quot;width&quot;:378}"/>
</p:tagLst>
</file>

<file path=ppt/tags/tag5.xml><?xml version="1.0" encoding="utf-8"?>
<p:tagLst xmlns:p="http://schemas.openxmlformats.org/presentationml/2006/main">
  <p:tag name="KSO_WM_DIAGRAM_VIRTUALLY_FRAME" val="{&quot;height&quot;:161.99999999999994,&quot;left&quot;:522,&quot;top&quot;:253.12496062992128,&quot;width&quot;:378}"/>
</p:tagLst>
</file>

<file path=ppt/tags/tag6.xml><?xml version="1.0" encoding="utf-8"?>
<p:tagLst xmlns:p="http://schemas.openxmlformats.org/presentationml/2006/main">
  <p:tag name="KSO_WM_DIAGRAM_VIRTUALLY_FRAME" val="{&quot;height&quot;:161.99999999999994,&quot;left&quot;:522,&quot;top&quot;:253.12496062992128,&quot;width&quot;:378}"/>
</p:tagLst>
</file>

<file path=ppt/tags/tag7.xml><?xml version="1.0" encoding="utf-8"?>
<p:tagLst xmlns:p="http://schemas.openxmlformats.org/presentationml/2006/main">
  <p:tag name="KSO_WM_DIAGRAM_VIRTUALLY_FRAME" val="{&quot;height&quot;:100.25000000000003,&quot;left&quot;:90.54212598425197,&quot;top&quot;:155.72496062992124,&quot;width&quot;:780.4922047244094}"/>
</p:tagLst>
</file>

<file path=ppt/tags/tag8.xml><?xml version="1.0" encoding="utf-8"?>
<p:tagLst xmlns:p="http://schemas.openxmlformats.org/presentationml/2006/main">
  <p:tag name="KSO_WM_DIAGRAM_VIRTUALLY_FRAME" val="{&quot;height&quot;:100.25000000000003,&quot;left&quot;:90.54212598425197,&quot;top&quot;:155.72496062992124,&quot;width&quot;:780.4922047244094}"/>
</p:tagLst>
</file>

<file path=ppt/tags/tag9.xml><?xml version="1.0" encoding="utf-8"?>
<p:tagLst xmlns:p="http://schemas.openxmlformats.org/presentationml/2006/main">
  <p:tag name="KSO_WM_DIAGRAM_VIRTUALLY_FRAME" val="{&quot;height&quot;:100.25000000000003,&quot;left&quot;:90.54212598425197,&quot;top&quot;:155.72496062992124,&quot;width&quot;:780.4922047244094}"/>
</p:tagLst>
</file>

<file path=ppt/tags/tag10.xml><?xml version="1.0" encoding="utf-8"?>
<p:tagLst xmlns:p="http://schemas.openxmlformats.org/presentationml/2006/main">
  <p:tag name="KSO_WM_DIAGRAM_VIRTUALLY_FRAME" val="{&quot;height&quot;:100.25000000000003,&quot;left&quot;:90.54212598425197,&quot;top&quot;:155.72496062992124,&quot;width&quot;:780.4922047244094}"/>
</p:tagLst>
</file>

<file path=ppt/tags/tag11.xml><?xml version="1.0" encoding="utf-8"?>
<p:tagLst xmlns:p="http://schemas.openxmlformats.org/presentationml/2006/main">
  <p:tag name="KSO_WM_DIAGRAM_VIRTUALLY_FRAME" val="{&quot;height&quot;:100.25000000000003,&quot;left&quot;:90.54212598425197,&quot;top&quot;:155.72496062992124,&quot;width&quot;:780.4922047244094}"/>
</p:tagLst>
</file>

<file path=ppt/tags/tag12.xml><?xml version="1.0" encoding="utf-8"?>
<p:tagLst xmlns:p="http://schemas.openxmlformats.org/presentationml/2006/main">
  <p:tag name="KSO_WM_DIAGRAM_VIRTUALLY_FRAME" val="{&quot;height&quot;:100.25000000000003,&quot;left&quot;:90.54212598425197,&quot;top&quot;:155.72496062992124,&quot;width&quot;:780.4922047244094}"/>
</p:tagLst>
</file>

<file path=ppt/tags/tag13.xml><?xml version="1.0" encoding="utf-8"?>
<p:tagLst xmlns:p="http://schemas.openxmlformats.org/presentationml/2006/main">
  <p:tag name="KSO_WM_DIAGRAM_VIRTUALLY_FRAME" val="{&quot;height&quot;:100.25000000000003,&quot;left&quot;:90.54212598425197,&quot;top&quot;:155.72496062992124,&quot;width&quot;:780.4922047244094}"/>
</p:tagLst>
</file>

<file path=ppt/tags/tag14.xml><?xml version="1.0" encoding="utf-8"?>
<p:tagLst xmlns:p="http://schemas.openxmlformats.org/presentationml/2006/main">
  <p:tag name="KSO_WM_DIAGRAM_VIRTUALLY_FRAME" val="{&quot;height&quot;:100.25000000000003,&quot;left&quot;:90.54212598425197,&quot;top&quot;:155.72496062992124,&quot;width&quot;:780.4922047244094}"/>
</p:tagLst>
</file>

<file path=ppt/tags/tag15.xml><?xml version="1.0" encoding="utf-8"?>
<p:tagLst xmlns:p="http://schemas.openxmlformats.org/presentationml/2006/main">
  <p:tag name="KSO_WM_DIAGRAM_VIRTUALLY_FRAME" val="{&quot;height&quot;:100.25000000000003,&quot;left&quot;:90.54212598425197,&quot;top&quot;:155.72496062992124,&quot;width&quot;:780.4922047244094}"/>
</p:tagLst>
</file>

<file path=ppt/tags/tag16.xml><?xml version="1.0" encoding="utf-8"?>
<p:tagLst xmlns:p="http://schemas.openxmlformats.org/presentationml/2006/main">
  <p:tag name="KSO_WM_DIAGRAM_VIRTUALLY_FRAME" val="{&quot;height&quot;:295.5,&quot;left&quot;:60,&quot;top&quot;:161.62496062992125,&quot;width&quot;:840}"/>
</p:tagLst>
</file>

<file path=ppt/tags/tag17.xml><?xml version="1.0" encoding="utf-8"?>
<p:tagLst xmlns:p="http://schemas.openxmlformats.org/presentationml/2006/main">
  <p:tag name="KSO_WM_DIAGRAM_VIRTUALLY_FRAME" val="{&quot;height&quot;:295.5,&quot;left&quot;:60,&quot;top&quot;:161.62496062992125,&quot;width&quot;:840}"/>
</p:tagLst>
</file>

<file path=ppt/tags/tag18.xml><?xml version="1.0" encoding="utf-8"?>
<p:tagLst xmlns:p="http://schemas.openxmlformats.org/presentationml/2006/main">
  <p:tag name="KSO_WM_DIAGRAM_VIRTUALLY_FRAME" val="{&quot;height&quot;:295.5,&quot;left&quot;:60,&quot;top&quot;:161.62496062992125,&quot;width&quot;:840}"/>
</p:tagLst>
</file>

<file path=ppt/tags/tag19.xml><?xml version="1.0" encoding="utf-8"?>
<p:tagLst xmlns:p="http://schemas.openxmlformats.org/presentationml/2006/main">
  <p:tag name="KSO_WM_DIAGRAM_VIRTUALLY_FRAME" val="{&quot;height&quot;:295.5,&quot;left&quot;:60,&quot;top&quot;:161.62496062992125,&quot;width&quot;:840}"/>
</p:tagLst>
</file>

<file path=ppt/tags/tag20.xml><?xml version="1.0" encoding="utf-8"?>
<p:tagLst xmlns:p="http://schemas.openxmlformats.org/presentationml/2006/main">
  <p:tag name="KSO_WM_DIAGRAM_VIRTUALLY_FRAME" val="{&quot;height&quot;:295.5,&quot;left&quot;:60,&quot;top&quot;:161.62496062992125,&quot;width&quot;:840}"/>
</p:tagLst>
</file>

<file path=ppt/tags/tag21.xml><?xml version="1.0" encoding="utf-8"?>
<p:tagLst xmlns:p="http://schemas.openxmlformats.org/presentationml/2006/main">
  <p:tag name="KSO_WM_DIAGRAM_VIRTUALLY_FRAME" val="{&quot;height&quot;:295.5,&quot;left&quot;:60,&quot;top&quot;:161.62496062992125,&quot;width&quot;:840}"/>
</p:tagLst>
</file>

<file path=ppt/tags/tag22.xml><?xml version="1.0" encoding="utf-8"?>
<p:tagLst xmlns:p="http://schemas.openxmlformats.org/presentationml/2006/main">
  <p:tag name="KSO_WM_DIAGRAM_VIRTUALLY_FRAME" val="{&quot;height&quot;:295.5,&quot;left&quot;:60,&quot;top&quot;:161.62496062992125,&quot;width&quot;:840}"/>
</p:tagLst>
</file>

<file path=ppt/tags/tag23.xml><?xml version="1.0" encoding="utf-8"?>
<p:tagLst xmlns:p="http://schemas.openxmlformats.org/presentationml/2006/main">
  <p:tag name="KSO_WM_DIAGRAM_VIRTUALLY_FRAME" val="{&quot;height&quot;:295.5,&quot;left&quot;:60,&quot;top&quot;:161.62496062992125,&quot;width&quot;:840}"/>
</p:tagLst>
</file>

<file path=ppt/tags/tag24.xml><?xml version="1.0" encoding="utf-8"?>
<p:tagLst xmlns:p="http://schemas.openxmlformats.org/presentationml/2006/main">
  <p:tag name="KSO_WM_DIAGRAM_VIRTUALLY_FRAME" val="{&quot;height&quot;:295.5,&quot;left&quot;:60,&quot;top&quot;:161.62496062992125,&quot;width&quot;:840}"/>
</p:tagLst>
</file>

<file path=ppt/tags/tag25.xml><?xml version="1.0" encoding="utf-8"?>
<p:tagLst xmlns:p="http://schemas.openxmlformats.org/presentationml/2006/main">
  <p:tag name="KSO_WM_DIAGRAM_VIRTUALLY_FRAME" val="{&quot;height&quot;:315,&quot;left&quot;:51,&quot;top&quot;:135,&quot;width&quot;:855}"/>
</p:tagLst>
</file>

<file path=ppt/tags/tag26.xml><?xml version="1.0" encoding="utf-8"?>
<p:tagLst xmlns:p="http://schemas.openxmlformats.org/presentationml/2006/main">
  <p:tag name="KSO_WM_DIAGRAM_VIRTUALLY_FRAME" val="{&quot;height&quot;:315,&quot;left&quot;:51,&quot;top&quot;:135,&quot;width&quot;:855}"/>
</p:tagLst>
</file>

<file path=ppt/tags/tag27.xml><?xml version="1.0" encoding="utf-8"?>
<p:tagLst xmlns:p="http://schemas.openxmlformats.org/presentationml/2006/main">
  <p:tag name="KSO_WM_DIAGRAM_VIRTUALLY_FRAME" val="{&quot;height&quot;:315,&quot;left&quot;:51,&quot;top&quot;:135,&quot;width&quot;:855}"/>
</p:tagLst>
</file>

<file path=ppt/tags/tag28.xml><?xml version="1.0" encoding="utf-8"?>
<p:tagLst xmlns:p="http://schemas.openxmlformats.org/presentationml/2006/main">
  <p:tag name="KSO_WM_DIAGRAM_VIRTUALLY_FRAME" val="{&quot;height&quot;:315,&quot;left&quot;:51,&quot;top&quot;:135,&quot;width&quot;:855}"/>
</p:tagLst>
</file>

<file path=ppt/tags/tag29.xml><?xml version="1.0" encoding="utf-8"?>
<p:tagLst xmlns:p="http://schemas.openxmlformats.org/presentationml/2006/main">
  <p:tag name="KSO_WM_DIAGRAM_VIRTUALLY_FRAME" val="{&quot;height&quot;:315,&quot;left&quot;:51,&quot;top&quot;:135,&quot;width&quot;:855}"/>
</p:tagLst>
</file>

<file path=ppt/tags/tag30.xml><?xml version="1.0" encoding="utf-8"?>
<p:tagLst xmlns:p="http://schemas.openxmlformats.org/presentationml/2006/main">
  <p:tag name="KSO_WM_DIAGRAM_VIRTUALLY_FRAME" val="{&quot;height&quot;:315,&quot;left&quot;:51,&quot;top&quot;:135,&quot;width&quot;:855}"/>
</p:tagLst>
</file>

<file path=ppt/tags/tag31.xml><?xml version="1.0" encoding="utf-8"?>
<p:tagLst xmlns:p="http://schemas.openxmlformats.org/presentationml/2006/main">
  <p:tag name="KSO_WM_DIAGRAM_VIRTUALLY_FRAME" val="{&quot;height&quot;:315,&quot;left&quot;:51,&quot;top&quot;:135,&quot;width&quot;:855}"/>
</p:tagLst>
</file>

<file path=ppt/tags/tag32.xml><?xml version="1.0" encoding="utf-8"?>
<p:tagLst xmlns:p="http://schemas.openxmlformats.org/presentationml/2006/main">
  <p:tag name="KSO_WM_DIAGRAM_VIRTUALLY_FRAME" val="{&quot;height&quot;:315,&quot;left&quot;:51,&quot;top&quot;:135,&quot;width&quot;:855}"/>
</p:tagLst>
</file>

<file path=ppt/tags/tag33.xml><?xml version="1.0" encoding="utf-8"?>
<p:tagLst xmlns:p="http://schemas.openxmlformats.org/presentationml/2006/main">
  <p:tag name="KSO_WM_DIAGRAM_VIRTUALLY_FRAME" val="{&quot;height&quot;:315,&quot;left&quot;:51,&quot;top&quot;:135,&quot;width&quot;:855}"/>
</p:tagLst>
</file>

<file path=ppt/tags/tag34.xml><?xml version="1.0" encoding="utf-8"?>
<p:tagLst xmlns:p="http://schemas.openxmlformats.org/presentationml/2006/main">
  <p:tag name="KSO_WM_DIAGRAM_VIRTUALLY_FRAME" val="{&quot;height&quot;:300,&quot;left&quot;:51,&quot;top&quot;:135,&quot;width&quot;:858}"/>
</p:tagLst>
</file>

<file path=ppt/tags/tag35.xml><?xml version="1.0" encoding="utf-8"?>
<p:tagLst xmlns:p="http://schemas.openxmlformats.org/presentationml/2006/main">
  <p:tag name="KSO_WM_DIAGRAM_VIRTUALLY_FRAME" val="{&quot;height&quot;:300,&quot;left&quot;:51,&quot;top&quot;:135,&quot;width&quot;:858}"/>
</p:tagLst>
</file>

<file path=ppt/tags/tag36.xml><?xml version="1.0" encoding="utf-8"?>
<p:tagLst xmlns:p="http://schemas.openxmlformats.org/presentationml/2006/main">
  <p:tag name="KSO_WM_DIAGRAM_VIRTUALLY_FRAME" val="{&quot;height&quot;:300,&quot;left&quot;:51,&quot;top&quot;:135,&quot;width&quot;:858}"/>
</p:tagLst>
</file>

<file path=ppt/tags/tag37.xml><?xml version="1.0" encoding="utf-8"?>
<p:tagLst xmlns:p="http://schemas.openxmlformats.org/presentationml/2006/main">
  <p:tag name="KSO_WM_DIAGRAM_VIRTUALLY_FRAME" val="{&quot;height&quot;:300,&quot;left&quot;:51,&quot;top&quot;:135,&quot;width&quot;:858}"/>
</p:tagLst>
</file>

<file path=ppt/tags/tag38.xml><?xml version="1.0" encoding="utf-8"?>
<p:tagLst xmlns:p="http://schemas.openxmlformats.org/presentationml/2006/main">
  <p:tag name="KSO_WM_DIAGRAM_VIRTUALLY_FRAME" val="{&quot;height&quot;:300,&quot;left&quot;:51,&quot;top&quot;:135,&quot;width&quot;:858}"/>
</p:tagLst>
</file>

<file path=ppt/tags/tag39.xml><?xml version="1.0" encoding="utf-8"?>
<p:tagLst xmlns:p="http://schemas.openxmlformats.org/presentationml/2006/main">
  <p:tag name="KSO_WM_DIAGRAM_VIRTUALLY_FRAME" val="{&quot;height&quot;:300,&quot;left&quot;:51,&quot;top&quot;:135,&quot;width&quot;:858}"/>
</p:tagLst>
</file>

<file path=ppt/tags/tag40.xml><?xml version="1.0" encoding="utf-8"?>
<p:tagLst xmlns:p="http://schemas.openxmlformats.org/presentationml/2006/main">
  <p:tag name="KSO_WM_DIAGRAM_VIRTUALLY_FRAME" val="{&quot;height&quot;:300,&quot;left&quot;:51,&quot;top&quot;:135,&quot;width&quot;:858}"/>
</p:tagLst>
</file>

<file path=ppt/tags/tag41.xml><?xml version="1.0" encoding="utf-8"?>
<p:tagLst xmlns:p="http://schemas.openxmlformats.org/presentationml/2006/main">
  <p:tag name="KSO_WM_DIAGRAM_VIRTUALLY_FRAME" val="{&quot;height&quot;:300,&quot;left&quot;:51,&quot;top&quot;:135,&quot;width&quot;:858}"/>
</p:tagLst>
</file>

<file path=ppt/tags/tag42.xml><?xml version="1.0" encoding="utf-8"?>
<p:tagLst xmlns:p="http://schemas.openxmlformats.org/presentationml/2006/main">
  <p:tag name="KSO_WM_DIAGRAM_VIRTUALLY_FRAME" val="{&quot;height&quot;:300,&quot;left&quot;:51,&quot;top&quot;:135,&quot;width&quot;:858}"/>
</p:tagLst>
</file>

<file path=ppt/tags/tag43.xml><?xml version="1.0" encoding="utf-8"?>
<p:tagLst xmlns:p="http://schemas.openxmlformats.org/presentationml/2006/main">
  <p:tag name="KSO_WM_DIAGRAM_VIRTUALLY_FRAME" val="{&quot;height&quot;:300,&quot;left&quot;:51,&quot;top&quot;:135,&quot;width&quot;:858}"/>
</p:tagLst>
</file>

<file path=ppt/tags/tag44.xml><?xml version="1.0" encoding="utf-8"?>
<p:tagLst xmlns:p="http://schemas.openxmlformats.org/presentationml/2006/main">
  <p:tag name="KSO_WM_DIAGRAM_VIRTUALLY_FRAME" val="{&quot;height&quot;:300,&quot;left&quot;:51,&quot;top&quot;:135,&quot;width&quot;:858}"/>
</p:tagLst>
</file>

<file path=ppt/tags/tag45.xml><?xml version="1.0" encoding="utf-8"?>
<p:tagLst xmlns:p="http://schemas.openxmlformats.org/presentationml/2006/main">
  <p:tag name="KSO_WM_DIAGRAM_VIRTUALLY_FRAME" val="{&quot;height&quot;:300,&quot;left&quot;:51,&quot;top&quot;:135,&quot;width&quot;:858}"/>
</p:tagLst>
</file>

<file path=ppt/tags/tag46.xml><?xml version="1.0" encoding="utf-8"?>
<p:tagLst xmlns:p="http://schemas.openxmlformats.org/presentationml/2006/main">
  <p:tag name="KSO_WM_DIAGRAM_VIRTUALLY_FRAME" val="{&quot;height&quot;:300,&quot;left&quot;:51,&quot;top&quot;:135,&quot;width&quot;:858}"/>
</p:tagLst>
</file>

<file path=ppt/tags/tag47.xml><?xml version="1.0" encoding="utf-8"?>
<p:tagLst xmlns:p="http://schemas.openxmlformats.org/presentationml/2006/main">
  <p:tag name="KSO_WM_DIAGRAM_VIRTUALLY_FRAME" val="{&quot;height&quot;:300,&quot;left&quot;:51,&quot;top&quot;:135,&quot;width&quot;:858}"/>
</p:tagLst>
</file>

<file path=ppt/tags/tag48.xml><?xml version="1.0" encoding="utf-8"?>
<p:tagLst xmlns:p="http://schemas.openxmlformats.org/presentationml/2006/main">
  <p:tag name="KSO_WM_DIAGRAM_VIRTUALLY_FRAME" val="{&quot;height&quot;:300,&quot;left&quot;:51,&quot;top&quot;:135,&quot;width&quot;:858}"/>
</p:tagLst>
</file>

<file path=ppt/tags/tag49.xml><?xml version="1.0" encoding="utf-8"?>
<p:tagLst xmlns:p="http://schemas.openxmlformats.org/presentationml/2006/main">
  <p:tag name="KSO_WM_DIAGRAM_VIRTUALLY_FRAME" val="{&quot;height&quot;:308.75,&quot;left&quot;:51,&quot;top&quot;:135,&quot;width&quot;:855}"/>
</p:tagLst>
</file>

<file path=ppt/tags/tag50.xml><?xml version="1.0" encoding="utf-8"?>
<p:tagLst xmlns:p="http://schemas.openxmlformats.org/presentationml/2006/main">
  <p:tag name="KSO_WM_DIAGRAM_VIRTUALLY_FRAME" val="{&quot;height&quot;:308.75,&quot;left&quot;:51,&quot;top&quot;:135,&quot;width&quot;:855}"/>
</p:tagLst>
</file>

<file path=ppt/tags/tag51.xml><?xml version="1.0" encoding="utf-8"?>
<p:tagLst xmlns:p="http://schemas.openxmlformats.org/presentationml/2006/main">
  <p:tag name="KSO_WM_DIAGRAM_VIRTUALLY_FRAME" val="{&quot;height&quot;:308.75,&quot;left&quot;:51,&quot;top&quot;:135,&quot;width&quot;:855}"/>
</p:tagLst>
</file>

<file path=ppt/tags/tag52.xml><?xml version="1.0" encoding="utf-8"?>
<p:tagLst xmlns:p="http://schemas.openxmlformats.org/presentationml/2006/main">
  <p:tag name="KSO_WM_DIAGRAM_VIRTUALLY_FRAME" val="{&quot;height&quot;:308.75,&quot;left&quot;:51,&quot;top&quot;:135,&quot;width&quot;:855}"/>
</p:tagLst>
</file>

<file path=ppt/tags/tag53.xml><?xml version="1.0" encoding="utf-8"?>
<p:tagLst xmlns:p="http://schemas.openxmlformats.org/presentationml/2006/main">
  <p:tag name="KSO_WM_DIAGRAM_VIRTUALLY_FRAME" val="{&quot;height&quot;:308.75,&quot;left&quot;:51,&quot;top&quot;:135,&quot;width&quot;:855}"/>
</p:tagLst>
</file>

<file path=ppt/tags/tag54.xml><?xml version="1.0" encoding="utf-8"?>
<p:tagLst xmlns:p="http://schemas.openxmlformats.org/presentationml/2006/main">
  <p:tag name="KSO_WM_DIAGRAM_VIRTUALLY_FRAME" val="{&quot;height&quot;:308.75,&quot;left&quot;:51,&quot;top&quot;:135,&quot;width&quot;:855}"/>
</p:tagLst>
</file>

<file path=ppt/tags/tag55.xml><?xml version="1.0" encoding="utf-8"?>
<p:tagLst xmlns:p="http://schemas.openxmlformats.org/presentationml/2006/main">
  <p:tag name="KSO_WM_DIAGRAM_VIRTUALLY_FRAME" val="{&quot;height&quot;:308.75,&quot;left&quot;:51,&quot;top&quot;:135,&quot;width&quot;:855}"/>
</p:tagLst>
</file>

<file path=ppt/tags/tag56.xml><?xml version="1.0" encoding="utf-8"?>
<p:tagLst xmlns:p="http://schemas.openxmlformats.org/presentationml/2006/main">
  <p:tag name="KSO_WM_DIAGRAM_VIRTUALLY_FRAME" val="{&quot;height&quot;:308.75,&quot;left&quot;:51,&quot;top&quot;:135,&quot;width&quot;:855}"/>
</p:tagLst>
</file>

<file path=ppt/tags/tag57.xml><?xml version="1.0" encoding="utf-8"?>
<p:tagLst xmlns:p="http://schemas.openxmlformats.org/presentationml/2006/main">
  <p:tag name="KSO_WM_DIAGRAM_VIRTUALLY_FRAME" val="{&quot;height&quot;:308.75,&quot;left&quot;:51,&quot;top&quot;:135,&quot;width&quot;:855}"/>
</p:tagLst>
</file>

<file path=ppt/tags/tag58.xml><?xml version="1.0" encoding="utf-8"?>
<p:tagLst xmlns:p="http://schemas.openxmlformats.org/presentationml/2006/main">
  <p:tag name="KSO_WM_DIAGRAM_VIRTUALLY_FRAME" val="{&quot;height&quot;:308.75,&quot;left&quot;:51,&quot;top&quot;:135,&quot;width&quot;:855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7275</Words>
  <Application>WPS 演示</Application>
  <PresentationFormat/>
  <Paragraphs>395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4" baseType="lpstr">
      <vt:lpstr>Arial</vt:lpstr>
      <vt:lpstr>宋体</vt:lpstr>
      <vt:lpstr>Wingdings</vt:lpstr>
      <vt:lpstr>Arial</vt:lpstr>
      <vt:lpstr>Calibri</vt:lpstr>
      <vt:lpstr>Poppins</vt:lpstr>
      <vt:lpstr>Poppins Medium</vt:lpstr>
      <vt:lpstr>Inter</vt:lpstr>
      <vt:lpstr>Inter ExtraBold</vt:lpstr>
      <vt:lpstr>微软雅黑</vt:lpstr>
      <vt:lpstr>Arial Unicode MS</vt:lpstr>
      <vt:lpstr>Times New Roman</vt:lpstr>
      <vt:lpstr>Inter</vt:lpstr>
      <vt:lpstr>Inter</vt:lpstr>
      <vt:lpstr>Inter</vt:lpstr>
      <vt:lpstr>Poppins</vt:lpstr>
      <vt:lpstr>Poppins</vt:lpstr>
      <vt:lpstr>Poppins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不歪</cp:lastModifiedBy>
  <cp:revision>5</cp:revision>
  <dcterms:created xsi:type="dcterms:W3CDTF">2026-04-26T02:31:00Z</dcterms:created>
  <dcterms:modified xsi:type="dcterms:W3CDTF">2026-05-19T17:21:17Z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5A712D54F583432B820EA2096D1ED886_13</vt:lpwstr>
  </property>
</Properties>
</file>